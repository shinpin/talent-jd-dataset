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6"/>
  </p:notesMasterIdLst>
  <p:sldIdLst>
    <p:sldId id="256" r:id="rId2"/>
    <p:sldId id="318" r:id="rId3"/>
    <p:sldId id="338" r:id="rId4"/>
    <p:sldId id="327" r:id="rId5"/>
    <p:sldId id="308" r:id="rId6"/>
    <p:sldId id="258" r:id="rId7"/>
    <p:sldId id="340" r:id="rId8"/>
    <p:sldId id="282" r:id="rId9"/>
    <p:sldId id="321" r:id="rId10"/>
    <p:sldId id="332" r:id="rId11"/>
    <p:sldId id="323" r:id="rId12"/>
    <p:sldId id="336" r:id="rId13"/>
    <p:sldId id="316" r:id="rId14"/>
    <p:sldId id="277" r:id="rId15"/>
    <p:sldId id="285" r:id="rId16"/>
    <p:sldId id="298" r:id="rId17"/>
    <p:sldId id="267" r:id="rId18"/>
    <p:sldId id="314" r:id="rId19"/>
    <p:sldId id="297" r:id="rId20"/>
    <p:sldId id="301" r:id="rId21"/>
    <p:sldId id="271" r:id="rId22"/>
    <p:sldId id="342" r:id="rId23"/>
    <p:sldId id="272" r:id="rId24"/>
    <p:sldId id="273" r:id="rId25"/>
    <p:sldId id="291" r:id="rId26"/>
    <p:sldId id="292" r:id="rId27"/>
    <p:sldId id="312" r:id="rId28"/>
    <p:sldId id="311" r:id="rId29"/>
    <p:sldId id="322" r:id="rId30"/>
    <p:sldId id="328" r:id="rId31"/>
    <p:sldId id="264" r:id="rId32"/>
    <p:sldId id="334" r:id="rId33"/>
    <p:sldId id="331" r:id="rId34"/>
    <p:sldId id="335" r:id="rId35"/>
  </p:sldIdLst>
  <p:sldSz cx="9144000" cy="5143500" type="screen16x9"/>
  <p:notesSz cx="6858000" cy="9144000"/>
  <p:embeddedFontLst>
    <p:embeddedFont>
      <p:font typeface="Adobe 繁黑體 Std B" panose="020B0700000000000000" pitchFamily="34" charset="-120"/>
      <p:bold r:id="rId37"/>
    </p:embeddedFont>
    <p:embeddedFont>
      <p:font typeface="Georgia" panose="02040502050405020303" pitchFamily="18" charset="0"/>
      <p:regular r:id="rId38"/>
      <p:bold r:id="rId39"/>
      <p:italic r:id="rId40"/>
      <p:boldItalic r:id="rId41"/>
    </p:embeddedFont>
    <p:embeddedFont>
      <p:font typeface="微軟正黑體" panose="020B0604030504040204" pitchFamily="34" charset="-120"/>
      <p:regular r:id="rId42"/>
      <p:bold r:id="rId43"/>
    </p:embeddedFont>
    <p:embeddedFont>
      <p:font typeface="微軟正黑體" panose="020B0604030504040204" pitchFamily="34" charset="-120"/>
      <p:regular r:id="rId42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3" userDrawn="1">
          <p15:clr>
            <a:srgbClr val="747775"/>
          </p15:clr>
        </p15:guide>
        <p15:guide id="2" pos="5307" userDrawn="1">
          <p15:clr>
            <a:srgbClr val="747775"/>
          </p15:clr>
        </p15:guide>
        <p15:guide id="3" orient="horz" pos="3064">
          <p15:clr>
            <a:srgbClr val="747775"/>
          </p15:clr>
        </p15:guide>
        <p15:guide id="4" pos="2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0852D"/>
    <a:srgbClr val="B08D57"/>
    <a:srgbClr val="2C3338"/>
    <a:srgbClr val="DC4CC1"/>
    <a:srgbClr val="ADB9C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67"/>
      </p:cViewPr>
      <p:guideLst>
        <p:guide orient="horz" pos="463"/>
        <p:guide pos="5307"/>
        <p:guide orient="horz" pos="306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5d9e1838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5d9e18385_2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55" name="Google Shape;55;g3e5d9e18385_2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9230b3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9230b3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d9e18385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e5d9e18385_2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【P4 研究背景 — 30 秒】</a:t>
            </a:r>
          </a:p>
          <a:p>
            <a:endParaRPr/>
          </a:p>
          <a:p>
            <a:r>
              <a:t>學界已經有三條線索指向同一個方向：</a:t>
            </a:r>
          </a:p>
          <a:p>
            <a:r>
              <a:t>• Autor 等 (2003)：工具技能由核心轉為預設門檻</a:t>
            </a:r>
          </a:p>
          <a:p>
            <a:r>
              <a:t>• WEF (2025)：認知型技能反轉性提升</a:t>
            </a:r>
          </a:p>
          <a:p>
            <a:r>
              <a:t>• PwC (2025)：AI 溢價集中在「能整合的高層次人才」</a:t>
            </a:r>
          </a:p>
          <a:p>
            <a:endParaRPr/>
          </a:p>
          <a:p>
            <a:r>
              <a:t>但這些都是觀察性描述，**缺乏系統性的職缺量化資料**。這就是我們要補的縫隙。</a:t>
            </a:r>
          </a:p>
          <a:p>
            <a:endParaRPr/>
          </a:p>
          <a:p>
            <a:r>
              <a:t>→ P5</a:t>
            </a:r>
          </a:p>
        </p:txBody>
      </p:sp>
      <p:sp>
        <p:nvSpPr>
          <p:cNvPr id="87" name="Google Shape;87;g3e5d9e18385_2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1461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2624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【P14 Bar Chart Race — 60 秒】</a:t>
            </a:r>
          </a:p>
          <a:p>
            <a:endParaRPr dirty="0"/>
          </a:p>
          <a:p>
            <a:r>
              <a:rPr dirty="0" err="1"/>
              <a:t>再看一張動態圖。Top</a:t>
            </a:r>
            <a:r>
              <a:rPr dirty="0"/>
              <a:t> 10 </a:t>
            </a:r>
            <a:r>
              <a:rPr dirty="0" err="1"/>
              <a:t>技能提及率從</a:t>
            </a:r>
            <a:r>
              <a:rPr dirty="0"/>
              <a:t> 2023 到 2026 </a:t>
            </a:r>
            <a:r>
              <a:rPr dirty="0" err="1"/>
              <a:t>的滾動變化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注意「溝通協調」從幾乎沒有，衝到</a:t>
            </a:r>
            <a:r>
              <a:rPr dirty="0"/>
              <a:t> 66.1%；「跨部門合作」45.2%；「需求訪談」30.6%。</a:t>
            </a:r>
            <a:r>
              <a:rPr dirty="0" err="1"/>
              <a:t>整合層技能集體超越工具操作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這就是</a:t>
            </a:r>
            <a:r>
              <a:rPr dirty="0"/>
              <a:t> R5.5-R7.0 </a:t>
            </a:r>
            <a:r>
              <a:rPr dirty="0" err="1"/>
              <a:t>結構性集中爆發的證據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→ P15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5d9e18385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g3e5d9e18385_2_3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【P15 Q3 第三維度（薪資）— 45 秒】</a:t>
            </a:r>
          </a:p>
          <a:p>
            <a:endParaRPr/>
          </a:p>
          <a:p>
            <a:r>
              <a:t>五個能力變數對月薪中位數的 Pearson 相關（n=19 薪資揭露）：</a:t>
            </a:r>
          </a:p>
          <a:p>
            <a:r>
              <a:t>• 職級 r = +0.565 ★ 最強正相關</a:t>
            </a:r>
          </a:p>
          <a:p>
            <a:r>
              <a:t>• 純執行 r = −0.195</a:t>
            </a:r>
          </a:p>
          <a:p>
            <a:r>
              <a:t>• AI 工具操作 r = −0.174</a:t>
            </a:r>
          </a:p>
          <a:p>
            <a:endParaRPr/>
          </a:p>
          <a:p>
            <a:r>
              <a:t>薪資結構由職級主導，而**不是 AI 工具操作能力**。</a:t>
            </a:r>
          </a:p>
          <a:p>
            <a:endParaRPr/>
          </a:p>
          <a:p>
            <a:r>
              <a:t>→ P16</a:t>
            </a:r>
          </a:p>
        </p:txBody>
      </p:sp>
      <p:sp>
        <p:nvSpPr>
          <p:cNvPr id="465" name="Google Shape;465;g3e5d9e18385_2_3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5d9e18385_2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g3e5d9e18385_2_5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【P20 教育啟示 — 60 秒】</a:t>
            </a:r>
          </a:p>
          <a:p>
            <a:endParaRPr/>
          </a:p>
          <a:p>
            <a:r>
              <a:t>給美術設計者面對 AI 浪潮的三點建議：</a:t>
            </a:r>
          </a:p>
          <a:p>
            <a:r>
              <a:t>① 把工具熟練視為基本門檻，不再是競爭力</a:t>
            </a:r>
          </a:p>
          <a:p>
            <a:r>
              <a:t>② 把判斷力訓練前置到 R5.5-R7 的整合層</a:t>
            </a:r>
          </a:p>
          <a:p>
            <a:r>
              <a:t>③ 把 F 階段（職能再定位）視為主動選擇，而非被動結果</a:t>
            </a:r>
          </a:p>
          <a:p>
            <a:endParaRPr/>
          </a:p>
          <a:p>
            <a:r>
              <a:t>對教育機構而言：課程設計應以「進階初學者 → 勝任者 → 精通者」的能力遞升為主軸，而不只是工具盤點。</a:t>
            </a:r>
          </a:p>
          <a:p>
            <a:endParaRPr/>
          </a:p>
          <a:p>
            <a:r>
              <a:t>→ P21</a:t>
            </a:r>
          </a:p>
        </p:txBody>
      </p:sp>
      <p:sp>
        <p:nvSpPr>
          <p:cNvPr id="594" name="Google Shape;594;g3e5d9e18385_2_5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5d9e18385_2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5" name="Google Shape;615;g3e5d9e18385_2_5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【P22 限制與後續 — 60 秒】</a:t>
            </a:r>
          </a:p>
          <a:p>
            <a:endParaRPr/>
          </a:p>
          <a:p>
            <a:r>
              <a:t>誠實的限制：</a:t>
            </a:r>
          </a:p>
          <a:p>
            <a:r>
              <a:t>• N=51 為探索性規模，不作統計推論</a:t>
            </a:r>
          </a:p>
          <a:p>
            <a:r>
              <a:t>• 基線樣本來源較分散</a:t>
            </a:r>
          </a:p>
          <a:p>
            <a:r>
              <a:t>• 職級為近似值</a:t>
            </a:r>
          </a:p>
          <a:p>
            <a:r>
              <a:t>• 薪資揭露率 61.3%</a:t>
            </a:r>
          </a:p>
          <a:p>
            <a:r>
              <a:t>• 相關不等於因果</a:t>
            </a:r>
          </a:p>
          <a:p>
            <a:endParaRPr/>
          </a:p>
          <a:p>
            <a:r>
              <a:t>後續研究方向：</a:t>
            </a:r>
          </a:p>
          <a:p>
            <a:r>
              <a:t>① 擴大樣本至 200+ 筆，納入 NLP 文字探勘</a:t>
            </a:r>
          </a:p>
          <a:p>
            <a:r>
              <a:t>② Stage 2 設計主管深度訪談（N≧7，2026 Q3）</a:t>
            </a:r>
          </a:p>
          <a:p>
            <a:r>
              <a:t>③ R1-R11 系統 18 模組跨職能比較（附錄一 N=62 已完成）</a:t>
            </a:r>
          </a:p>
          <a:p>
            <a:r>
              <a:t>④ **論文二**：AJF 方法論深化（建立可被同儕重現的編碼流程）</a:t>
            </a:r>
          </a:p>
          <a:p>
            <a:r>
              <a:t>⑤ **論文三**：代理型 AI 應用——以 R1-R11 × AJF 為基礎建構美術外包審核之自動化與可迭代系統</a:t>
            </a:r>
          </a:p>
          <a:p>
            <a:endParaRPr/>
          </a:p>
          <a:p>
            <a:r>
              <a:t>→ P23</a:t>
            </a:r>
          </a:p>
        </p:txBody>
      </p:sp>
      <p:sp>
        <p:nvSpPr>
          <p:cNvPr id="616" name="Google Shape;616;g3e5d9e18385_2_5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e5d9e18385_2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e5d9e18385_2_57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【P23 Q&amp;A — 留時間給聽眾】</a:t>
            </a:r>
          </a:p>
          <a:p>
            <a:endParaRPr/>
          </a:p>
          <a:p>
            <a:r>
              <a:t>歡迎指教與討論。</a:t>
            </a:r>
          </a:p>
          <a:p>
            <a:endParaRPr/>
          </a:p>
          <a:p>
            <a:r>
              <a:t>聯絡：benarcell@gmail.com</a:t>
            </a:r>
          </a:p>
          <a:p>
            <a:r>
              <a:t>佐證資料：doi.org/10.5281/zenodo.20444031 · v2 (2026/06/08)</a:t>
            </a:r>
          </a:p>
          <a:p>
            <a:r>
              <a:t>GitHub: github.com/shinpin/Talent-jd-dataset</a:t>
            </a:r>
          </a:p>
          <a:p>
            <a:endParaRPr/>
          </a:p>
          <a:p>
            <a:r>
              <a:t>【常見問題備答】</a:t>
            </a:r>
          </a:p>
          <a:p>
            <a:r>
              <a:t>Q：為什麼樣本只有 51 筆？</a:t>
            </a:r>
          </a:p>
          <a:p>
            <a:r>
              <a:t>A：探索性研究的目的是建構框架而非統計概化。N=82 完整資料集已公開於 Zenodo。</a:t>
            </a:r>
          </a:p>
          <a:p>
            <a:endParaRPr/>
          </a:p>
          <a:p>
            <a:r>
              <a:t>Q：為什麼不用 NLP？</a:t>
            </a:r>
          </a:p>
          <a:p>
            <a:r>
              <a:t>A：Stage 1 需要研究者反身性與領域判斷（質性深描），NLP 適合 Stage 2 的規模驗證（200+ 筆）。兩階段互補，不可互相替代。</a:t>
            </a:r>
          </a:p>
          <a:p>
            <a:endParaRPr/>
          </a:p>
          <a:p>
            <a:r>
              <a:t>Q：AJF 框架的科學依據？</a:t>
            </a:r>
          </a:p>
          <a:p>
            <a:r>
              <a:t>A：AJF 是初步詮釋框架，非本研究驗證主軸。其方法論深化是論文二的核心議題。</a:t>
            </a:r>
          </a:p>
          <a:p>
            <a:endParaRPr/>
          </a:p>
        </p:txBody>
      </p:sp>
      <p:sp>
        <p:nvSpPr>
          <p:cNvPr id="654" name="Google Shape;654;g3e5d9e18385_2_5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E446B77-6629-9C39-44B7-F6D1AF3A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e8fec13ce_0_30:notes">
            <a:extLst>
              <a:ext uri="{FF2B5EF4-FFF2-40B4-BE49-F238E27FC236}">
                <a16:creationId xmlns:a16="http://schemas.microsoft.com/office/drawing/2014/main" id="{AC713731-3B96-1504-CC3E-15C95EE3F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e8fec13ce_0_30:notes">
            <a:extLst>
              <a:ext uri="{FF2B5EF4-FFF2-40B4-BE49-F238E27FC236}">
                <a16:creationId xmlns:a16="http://schemas.microsoft.com/office/drawing/2014/main" id="{65D2E2C0-BEF7-2D38-44B8-17E97C5CF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448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272278d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a272278d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9D74D8F-629E-D4B3-A0AA-1A97535F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a272278d3_0_66:notes">
            <a:extLst>
              <a:ext uri="{FF2B5EF4-FFF2-40B4-BE49-F238E27FC236}">
                <a16:creationId xmlns:a16="http://schemas.microsoft.com/office/drawing/2014/main" id="{F43CB696-11A4-F25B-59E6-79578AD6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a272278d3_0_66:notes">
            <a:extLst>
              <a:ext uri="{FF2B5EF4-FFF2-40B4-BE49-F238E27FC236}">
                <a16:creationId xmlns:a16="http://schemas.microsoft.com/office/drawing/2014/main" id="{3AA27E56-D7CF-FC62-DF87-03E66903C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539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272278d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272278d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110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zh-TW" altLang="zh-TW" smtClean="0"/>
              <a:pPr/>
              <a:t>‹#›</a:t>
            </a:fld>
            <a:r>
              <a:rPr lang="en-US" altLang="zh-TW" dirty="0"/>
              <a:t>/40</a:t>
            </a:r>
            <a:endParaRPr lang="zh-TW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D4C00E-1963-4F83-B9E3-E542B488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‹#›</a:t>
            </a:fld>
            <a:r>
              <a:rPr lang="en-US" altLang="zh-TW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7262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‹#›</a:t>
            </a:fld>
            <a:r>
              <a:rPr lang="en-US" altLang="zh-TW" dirty="0"/>
              <a:t>/40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74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mtClean="0"/>
              <a:t>‹#›</a:t>
            </a:fld>
            <a:r>
              <a:rPr lang="en-US" altLang="zh-TW" dirty="0"/>
              <a:t>/40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6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harness-engineerin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281/zenodo.2044403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inpin/Talent-jd-datase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ydigitalexperiences.com/2025/11/15/2026-how-to-design-your-ux-career-roadmap-in-a-shifting-design-workforc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kbrookshier/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3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1C9E71-E26B-31E8-4189-154D443AC3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508" y="1947774"/>
            <a:ext cx="5827320" cy="437049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sp>
        <p:nvSpPr>
          <p:cNvPr id="57" name="Google Shape;57;p15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57200" y="54641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100"/>
              <a:buFont typeface="Calibri"/>
              <a:buNone/>
            </a:pPr>
            <a:r>
              <a:rPr lang="zh-TW" sz="11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2026  智慧生活科技與管理研討會  ·  SLTM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173736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3600"/>
              <a:buFont typeface="Georgia"/>
              <a:buNone/>
            </a:pPr>
            <a:r>
              <a:rPr lang="zh-TW" sz="36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AI 時代</a:t>
            </a:r>
            <a:r>
              <a:rPr lang="zh-TW" sz="36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 美術</a:t>
            </a:r>
            <a:r>
              <a:rPr lang="zh-TW" sz="36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職能變化</a:t>
            </a:r>
            <a:r>
              <a:rPr lang="zh-TW" sz="3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 </a:t>
            </a:r>
            <a:r>
              <a:rPr lang="zh-TW" sz="36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之</a:t>
            </a:r>
            <a:r>
              <a:rPr lang="zh-TW" sz="36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探索性研究</a:t>
            </a:r>
            <a:endParaRPr sz="3600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54773" y="235513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700"/>
              <a:buFont typeface="Georgia"/>
              <a:buNone/>
            </a:pPr>
            <a:r>
              <a:rPr lang="zh-TW" sz="1700" i="1" dirty="0">
                <a:solidFill>
                  <a:schemeClr val="bg1">
                    <a:lumMod val="6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An Exploratory Study on Changes in Art Competencies in the AI Era</a:t>
            </a:r>
            <a:endParaRPr sz="1700" dirty="0">
              <a:solidFill>
                <a:schemeClr val="bg1">
                  <a:lumMod val="6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15"/>
          <p:cNvCxnSpPr>
            <a:cxnSpLocks/>
          </p:cNvCxnSpPr>
          <p:nvPr/>
        </p:nvCxnSpPr>
        <p:spPr>
          <a:xfrm>
            <a:off x="-50750" y="2678086"/>
            <a:ext cx="7234276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/>
          <p:nvPr/>
        </p:nvSpPr>
        <p:spPr>
          <a:xfrm>
            <a:off x="475603" y="40136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400"/>
              <a:buFont typeface="Calibri"/>
              <a:buNone/>
            </a:pPr>
            <a:r>
              <a:rPr lang="zh-TW" sz="11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李世彬  (Shih-Pin Lee , Ben)   唐政元 (Cheng-Yuan Tang)</a:t>
            </a:r>
            <a:endParaRPr sz="11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400"/>
              <a:buFont typeface="Calibri"/>
              <a:buNone/>
            </a:pPr>
            <a:r>
              <a:rPr lang="zh-TW" sz="11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華梵大學  美術與文創學系 . 智慧</a:t>
            </a:r>
            <a:r>
              <a:rPr lang="zh-TW" altLang="en-US" sz="11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生活</a:t>
            </a:r>
            <a:r>
              <a:rPr lang="zh-TW" sz="11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科技學系 </a:t>
            </a:r>
            <a:endParaRPr sz="11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083709" y="4457484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佐證資料  Zenodo DOI</a:t>
            </a:r>
            <a:endParaRPr sz="10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083709" y="4592649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1100"/>
              <a:buFont typeface="Calibri"/>
              <a:buNone/>
            </a:pPr>
            <a:r>
              <a:rPr lang="zh-TW" sz="11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10.5281/zenodo.20444031 · v2</a:t>
            </a:r>
            <a:endParaRPr sz="11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083709" y="474844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9C29A"/>
              </a:buClr>
              <a:buSzPts val="900"/>
              <a:buFont typeface="Calibri"/>
              <a:buNone/>
            </a:pPr>
            <a:r>
              <a:rPr lang="zh-TW" sz="900" i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2026.06.12  ·  華梵大學</a:t>
            </a:r>
            <a:endParaRPr sz="9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FC258FA-FCC8-1C0B-53F7-C64EABB5DAA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3148" y="3912866"/>
            <a:ext cx="531225" cy="536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6A32-9202-AD8E-7BF7-5D11CF61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D4016B4-8E19-AAA4-9946-1AE9EEAA892B}"/>
              </a:ext>
            </a:extLst>
          </p:cNvPr>
          <p:cNvSpPr/>
          <p:nvPr/>
        </p:nvSpPr>
        <p:spPr>
          <a:xfrm>
            <a:off x="6626" y="1554480"/>
            <a:ext cx="9144000" cy="1516380"/>
          </a:xfrm>
          <a:prstGeom prst="rect">
            <a:avLst/>
          </a:prstGeom>
          <a:solidFill>
            <a:srgbClr val="B085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A86A2D-B851-E7D2-C1A5-BEBFECE3FE87}"/>
              </a:ext>
            </a:extLst>
          </p:cNvPr>
          <p:cNvSpPr txBox="1"/>
          <p:nvPr/>
        </p:nvSpPr>
        <p:spPr>
          <a:xfrm>
            <a:off x="1736445" y="1741018"/>
            <a:ext cx="5671109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現象 與 動機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1FB8146-1F8F-3730-00CE-CF93B0CD4FF2}"/>
              </a:ext>
            </a:extLst>
          </p:cNvPr>
          <p:cNvSpPr txBox="1"/>
          <p:nvPr/>
        </p:nvSpPr>
        <p:spPr>
          <a:xfrm>
            <a:off x="2255606" y="3375166"/>
            <a:ext cx="4622272" cy="108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研究者背景 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</a:p>
          <a:p>
            <a:pPr algn="ctr">
              <a:lnSpc>
                <a:spcPct val="120000"/>
              </a:lnSpc>
              <a:buNone/>
            </a:pPr>
            <a:r>
              <a:rPr lang="zh-TW" altLang="zh-TW" sz="1100" dirty="0">
                <a:solidFill>
                  <a:srgbClr val="B0852D"/>
                </a:solidFill>
              </a:rPr>
              <a:t>遊戲與數位產業工作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餘年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視覺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 領域</a:t>
            </a:r>
            <a:endParaRPr lang="en-US" altLang="zh-TW" sz="1100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20000"/>
              </a:lnSpc>
              <a:buNone/>
            </a:pPr>
            <a:endParaRPr lang="en-US" altLang="zh-TW" sz="1100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20000"/>
              </a:lnSpc>
              <a:buNone/>
            </a:pP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研究動機 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100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20000"/>
              </a:lnSpc>
              <a:buNone/>
            </a:pP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時代下 發現領域問題 </a:t>
            </a:r>
            <a:r>
              <a:rPr lang="en-US" altLang="zh-TW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100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想研究職涯與團隊相關因應   </a:t>
            </a:r>
          </a:p>
        </p:txBody>
      </p:sp>
      <p:sp>
        <p:nvSpPr>
          <p:cNvPr id="5" name="Google Shape;110;p17">
            <a:extLst>
              <a:ext uri="{FF2B5EF4-FFF2-40B4-BE49-F238E27FC236}">
                <a16:creationId xmlns:a16="http://schemas.microsoft.com/office/drawing/2014/main" id="{A3BE083A-01AB-3F86-4DCC-504DE8A1739D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6855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A2C2-66CE-9224-9BB9-D49C4D49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E13EAF4-015D-BAA7-FDAA-93D7446213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21600" y="898207"/>
            <a:ext cx="9139141" cy="4148632"/>
          </a:xfrm>
          <a:prstGeom prst="rect">
            <a:avLst/>
          </a:prstGeom>
        </p:spPr>
      </p:pic>
      <p:sp>
        <p:nvSpPr>
          <p:cNvPr id="10" name="Google Shape;396;p25">
            <a:extLst>
              <a:ext uri="{FF2B5EF4-FFF2-40B4-BE49-F238E27FC236}">
                <a16:creationId xmlns:a16="http://schemas.microsoft.com/office/drawing/2014/main" id="{50BE7120-B995-DD3E-188B-B65FBDE75FBE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現象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進入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美術職缺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與市場產生甚麼變化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3" name="Google Shape;89;p17">
            <a:extLst>
              <a:ext uri="{FF2B5EF4-FFF2-40B4-BE49-F238E27FC236}">
                <a16:creationId xmlns:a16="http://schemas.microsoft.com/office/drawing/2014/main" id="{81B058B3-5ADC-12BB-4405-0E7D0E35F004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0;p17">
            <a:extLst>
              <a:ext uri="{FF2B5EF4-FFF2-40B4-BE49-F238E27FC236}">
                <a16:creationId xmlns:a16="http://schemas.microsoft.com/office/drawing/2014/main" id="{520E4C63-2E69-5905-00FF-DC7E8AC2151A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91;p17">
            <a:extLst>
              <a:ext uri="{FF2B5EF4-FFF2-40B4-BE49-F238E27FC236}">
                <a16:creationId xmlns:a16="http://schemas.microsoft.com/office/drawing/2014/main" id="{3D838364-ECCF-1524-E17F-4397CDD01F54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背  景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0799ED83-1B21-2464-D91D-2958755C34B3}"/>
              </a:ext>
            </a:extLst>
          </p:cNvPr>
          <p:cNvGrpSpPr/>
          <p:nvPr/>
        </p:nvGrpSpPr>
        <p:grpSpPr>
          <a:xfrm>
            <a:off x="19171" y="2105758"/>
            <a:ext cx="8962785" cy="1148971"/>
            <a:chOff x="0" y="2047564"/>
            <a:chExt cx="8962785" cy="1148971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1C0B3E4-EAA3-55B5-948A-07F3CB503F05}"/>
                </a:ext>
              </a:extLst>
            </p:cNvPr>
            <p:cNvSpPr txBox="1"/>
            <p:nvPr/>
          </p:nvSpPr>
          <p:spPr>
            <a:xfrm>
              <a:off x="1728000" y="2047564"/>
              <a:ext cx="1807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zh-TW" sz="800" dirty="0"/>
                <a:t>ChatGPT / GPT-3.5、Stable Diffusion、Midjourney</a:t>
              </a:r>
              <a:endParaRPr lang="zh-TW" altLang="en-US" sz="8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53A0C0A-9F33-76D7-09F7-2299D62A4900}"/>
                </a:ext>
              </a:extLst>
            </p:cNvPr>
            <p:cNvSpPr/>
            <p:nvPr/>
          </p:nvSpPr>
          <p:spPr>
            <a:xfrm>
              <a:off x="7858190" y="2132853"/>
              <a:ext cx="1104595" cy="863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795CC878-14E6-837D-418A-9EB4DC34AFE0}"/>
                </a:ext>
              </a:extLst>
            </p:cNvPr>
            <p:cNvGrpSpPr/>
            <p:nvPr/>
          </p:nvGrpSpPr>
          <p:grpSpPr>
            <a:xfrm>
              <a:off x="0" y="2270918"/>
              <a:ext cx="8784000" cy="634228"/>
              <a:chOff x="0" y="2425772"/>
              <a:chExt cx="8784000" cy="634228"/>
            </a:xfrm>
          </p:grpSpPr>
          <p:sp>
            <p:nvSpPr>
              <p:cNvPr id="6" name="箭號: 向右 5">
                <a:extLst>
                  <a:ext uri="{FF2B5EF4-FFF2-40B4-BE49-F238E27FC236}">
                    <a16:creationId xmlns:a16="http://schemas.microsoft.com/office/drawing/2014/main" id="{7D0B5AA2-3622-223A-12C9-48A4107497D1}"/>
                  </a:ext>
                </a:extLst>
              </p:cNvPr>
              <p:cNvSpPr/>
              <p:nvPr/>
            </p:nvSpPr>
            <p:spPr>
              <a:xfrm>
                <a:off x="7154266" y="2425772"/>
                <a:ext cx="1629734" cy="634228"/>
              </a:xfrm>
              <a:prstGeom prst="rightArrow">
                <a:avLst>
                  <a:gd name="adj1" fmla="val 79508"/>
                  <a:gd name="adj2" fmla="val 59590"/>
                </a:avLst>
              </a:prstGeom>
              <a:gradFill>
                <a:gsLst>
                  <a:gs pos="0">
                    <a:srgbClr val="7030A0"/>
                  </a:gs>
                  <a:gs pos="100000">
                    <a:srgbClr val="DC4CC1"/>
                  </a:gs>
                </a:gsLst>
                <a:lin ang="0" scaled="1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altLang="zh-TW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Harness</a:t>
                </a:r>
              </a:p>
              <a:p>
                <a:pPr algn="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Engineering</a:t>
                </a:r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r"/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</p:txBody>
          </p:sp>
          <p:sp>
            <p:nvSpPr>
              <p:cNvPr id="3" name="箭號: 向右 2">
                <a:extLst>
                  <a:ext uri="{FF2B5EF4-FFF2-40B4-BE49-F238E27FC236}">
                    <a16:creationId xmlns:a16="http://schemas.microsoft.com/office/drawing/2014/main" id="{567E10D9-FC3A-D866-EB17-D7BC3D1444F4}"/>
                  </a:ext>
                </a:extLst>
              </p:cNvPr>
              <p:cNvSpPr/>
              <p:nvPr/>
            </p:nvSpPr>
            <p:spPr>
              <a:xfrm>
                <a:off x="3297597" y="2425772"/>
                <a:ext cx="4215113" cy="634228"/>
              </a:xfrm>
              <a:prstGeom prst="rightArrow">
                <a:avLst>
                  <a:gd name="adj1" fmla="val 79508"/>
                  <a:gd name="adj2" fmla="val 59590"/>
                </a:avLst>
              </a:prstGeom>
              <a:gradFill>
                <a:gsLst>
                  <a:gs pos="100000">
                    <a:srgbClr val="7030A0"/>
                  </a:gs>
                  <a:gs pos="0">
                    <a:srgbClr val="4472C4"/>
                  </a:gs>
                </a:gsLst>
                <a:lin ang="0" scaled="1"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ct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Context</a:t>
                </a:r>
              </a:p>
              <a:p>
                <a:pPr algn="ct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Engineering</a:t>
                </a:r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ctr"/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</p:txBody>
          </p:sp>
          <p:sp>
            <p:nvSpPr>
              <p:cNvPr id="2" name="箭號: 向右 1">
                <a:extLst>
                  <a:ext uri="{FF2B5EF4-FFF2-40B4-BE49-F238E27FC236}">
                    <a16:creationId xmlns:a16="http://schemas.microsoft.com/office/drawing/2014/main" id="{DDEE5E0C-BC32-FA67-80EA-99FC2617C49D}"/>
                  </a:ext>
                </a:extLst>
              </p:cNvPr>
              <p:cNvSpPr/>
              <p:nvPr/>
            </p:nvSpPr>
            <p:spPr>
              <a:xfrm>
                <a:off x="0" y="2425772"/>
                <a:ext cx="3664800" cy="634228"/>
              </a:xfrm>
              <a:prstGeom prst="rightArrow">
                <a:avLst>
                  <a:gd name="adj1" fmla="val 79508"/>
                  <a:gd name="adj2" fmla="val 59590"/>
                </a:avLst>
              </a:prstGeom>
              <a:gradFill flip="none" rotWithShape="1">
                <a:gsLst>
                  <a:gs pos="11000">
                    <a:schemeClr val="accent1">
                      <a:lumMod val="5000"/>
                      <a:lumOff val="95000"/>
                    </a:schemeClr>
                  </a:gs>
                  <a:gs pos="39000">
                    <a:srgbClr val="4472C4"/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ct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Prompt </a:t>
                </a:r>
              </a:p>
              <a:p>
                <a:pPr algn="ctr"/>
                <a:r>
                  <a:rPr lang="en-US" altLang="zh-TW" sz="1100" dirty="0">
                    <a:solidFill>
                      <a:schemeClr val="lt1">
                        <a:alpha val="53000"/>
                      </a:schemeClr>
                    </a:solidFill>
                  </a:rPr>
                  <a:t>Engineering</a:t>
                </a:r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  <a:p>
                <a:pPr algn="ctr"/>
                <a:endParaRPr lang="zh-TW" altLang="en-US" sz="1100" dirty="0">
                  <a:solidFill>
                    <a:schemeClr val="lt1">
                      <a:alpha val="53000"/>
                    </a:schemeClr>
                  </a:solidFill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E5272383-3344-F84E-3633-91BDB767D599}"/>
                </a:ext>
              </a:extLst>
            </p:cNvPr>
            <p:cNvSpPr txBox="1"/>
            <p:nvPr/>
          </p:nvSpPr>
          <p:spPr>
            <a:xfrm>
              <a:off x="7565128" y="2857981"/>
              <a:ext cx="139599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zh-TW" sz="800" b="0" i="0" dirty="0">
                  <a:effectLst/>
                  <a:latin typeface="Arial" panose="020B0604020202020204" pitchFamily="34" charset="0"/>
                </a:rPr>
                <a:t>OpenAI 2 月發表 blog</a:t>
              </a:r>
              <a:endParaRPr lang="en-US" altLang="zh-TW" sz="800" b="0" i="0" dirty="0">
                <a:effectLst/>
                <a:latin typeface="Arial" panose="020B0604020202020204" pitchFamily="34" charset="0"/>
              </a:endParaRPr>
            </a:p>
            <a:p>
              <a:r>
                <a:rPr lang="zh-TW" altLang="zh-TW" sz="800" b="0" i="0" dirty="0">
                  <a:solidFill>
                    <a:srgbClr val="FF5500"/>
                  </a:solidFill>
                  <a:effectLst/>
                  <a:latin typeface="Arial" panose="020B0604020202020204" pitchFamily="34" charset="0"/>
                  <a:hlinkClick r:id="rId3"/>
                </a:rPr>
                <a:t>Harness Engineering</a:t>
              </a:r>
              <a:endParaRPr lang="zh-TW" altLang="en-US" sz="800" dirty="0"/>
            </a:p>
          </p:txBody>
        </p:sp>
      </p:grpSp>
      <p:sp>
        <p:nvSpPr>
          <p:cNvPr id="18" name="Google Shape;649;p31">
            <a:extLst>
              <a:ext uri="{FF2B5EF4-FFF2-40B4-BE49-F238E27FC236}">
                <a16:creationId xmlns:a16="http://schemas.microsoft.com/office/drawing/2014/main" id="{81B21675-BD7C-A12C-DB59-8A9BE01D3AAB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8B6C12-6A72-D4C3-9D9C-B825C4121B61}"/>
              </a:ext>
            </a:extLst>
          </p:cNvPr>
          <p:cNvSpPr/>
          <p:nvPr/>
        </p:nvSpPr>
        <p:spPr>
          <a:xfrm>
            <a:off x="1280160" y="4419600"/>
            <a:ext cx="657803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圓形: 空心 6">
            <a:extLst>
              <a:ext uri="{FF2B5EF4-FFF2-40B4-BE49-F238E27FC236}">
                <a16:creationId xmlns:a16="http://schemas.microsoft.com/office/drawing/2014/main" id="{6DA294D8-E89E-1859-67D3-FE5EADCDC6BE}"/>
              </a:ext>
            </a:extLst>
          </p:cNvPr>
          <p:cNvSpPr/>
          <p:nvPr/>
        </p:nvSpPr>
        <p:spPr>
          <a:xfrm>
            <a:off x="7417430" y="2381208"/>
            <a:ext cx="171728" cy="171728"/>
          </a:xfrm>
          <a:prstGeom prst="donut">
            <a:avLst/>
          </a:prstGeom>
          <a:solidFill>
            <a:srgbClr val="DC4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6" name="Google Shape;62;p15">
            <a:extLst>
              <a:ext uri="{FF2B5EF4-FFF2-40B4-BE49-F238E27FC236}">
                <a16:creationId xmlns:a16="http://schemas.microsoft.com/office/drawing/2014/main" id="{92C43C95-AF5D-6512-7360-91BC9EF0BB56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7234276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10;p17">
            <a:extLst>
              <a:ext uri="{FF2B5EF4-FFF2-40B4-BE49-F238E27FC236}">
                <a16:creationId xmlns:a16="http://schemas.microsoft.com/office/drawing/2014/main" id="{0950722D-A575-A168-DB1B-DB3D585769B1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564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1B5A8EB8-3B42-3C9B-BB7F-F09C8E0E0A85}"/>
              </a:ext>
            </a:extLst>
          </p:cNvPr>
          <p:cNvGrpSpPr/>
          <p:nvPr/>
        </p:nvGrpSpPr>
        <p:grpSpPr>
          <a:xfrm>
            <a:off x="518160" y="344844"/>
            <a:ext cx="7810500" cy="4496396"/>
            <a:chOff x="518160" y="344844"/>
            <a:chExt cx="7810500" cy="4496396"/>
          </a:xfrm>
        </p:grpSpPr>
        <p:pic>
          <p:nvPicPr>
            <p:cNvPr id="74" name="Google Shape;74;g3ee9230b3cd_0_0"/>
            <p:cNvPicPr preferRelativeResize="0"/>
            <p:nvPr/>
          </p:nvPicPr>
          <p:blipFill>
            <a:blip r:embed="rId3" cstate="email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000"/>
                      </a14:imgEffect>
                      <a14:imgEffect>
                        <a14:brightnessContrast bright="1000" contrast="6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18160" y="512088"/>
              <a:ext cx="3703320" cy="43291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FB7B52D5-8FAB-7FC3-E950-8FD724A21269}"/>
                </a:ext>
              </a:extLst>
            </p:cNvPr>
            <p:cNvGrpSpPr/>
            <p:nvPr/>
          </p:nvGrpSpPr>
          <p:grpSpPr>
            <a:xfrm>
              <a:off x="609600" y="344844"/>
              <a:ext cx="6705600" cy="272376"/>
              <a:chOff x="609600" y="344844"/>
              <a:chExt cx="6705600" cy="272376"/>
            </a:xfrm>
          </p:grpSpPr>
          <p:sp>
            <p:nvSpPr>
              <p:cNvPr id="7" name="Google Shape;396;p25">
                <a:extLst>
                  <a:ext uri="{FF2B5EF4-FFF2-40B4-BE49-F238E27FC236}">
                    <a16:creationId xmlns:a16="http://schemas.microsoft.com/office/drawing/2014/main" id="{47EFF4FF-DE1E-4484-2297-812BA94CB949}"/>
                  </a:ext>
                </a:extLst>
              </p:cNvPr>
              <p:cNvSpPr/>
              <p:nvPr/>
            </p:nvSpPr>
            <p:spPr>
              <a:xfrm>
                <a:off x="609600" y="360085"/>
                <a:ext cx="2990850" cy="257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>
                  <a:buClr>
                    <a:srgbClr val="2C3338"/>
                  </a:buClr>
                  <a:buSzPts val="2400"/>
                </a:pP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UI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組長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(R6)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2009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內部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JD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endParaRPr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  <p:sp>
            <p:nvSpPr>
              <p:cNvPr id="8" name="Google Shape;396;p25">
                <a:extLst>
                  <a:ext uri="{FF2B5EF4-FFF2-40B4-BE49-F238E27FC236}">
                    <a16:creationId xmlns:a16="http://schemas.microsoft.com/office/drawing/2014/main" id="{7CE92993-33FB-5F5D-4FAB-FD1E886CF9A0}"/>
                  </a:ext>
                </a:extLst>
              </p:cNvPr>
              <p:cNvSpPr/>
              <p:nvPr/>
            </p:nvSpPr>
            <p:spPr>
              <a:xfrm>
                <a:off x="4650818" y="344844"/>
                <a:ext cx="2664382" cy="257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>
                  <a:buClr>
                    <a:srgbClr val="2C3338"/>
                  </a:buClr>
                  <a:buSzPts val="2400"/>
                </a:pP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UIUX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(R5)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2026.5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平台招募</a:t>
                </a:r>
                <a:r>
                  <a:rPr lang="en-US" altLang="zh-TW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JD </a:t>
                </a:r>
                <a:r>
                  <a:rPr lang="zh-TW" alt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endParaRPr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</p:grpSp>
        <p:pic>
          <p:nvPicPr>
            <p:cNvPr id="2" name="Google Shape;82;g3ee8fec13ce_0_30">
              <a:extLst>
                <a:ext uri="{FF2B5EF4-FFF2-40B4-BE49-F238E27FC236}">
                  <a16:creationId xmlns:a16="http://schemas.microsoft.com/office/drawing/2014/main" id="{EC7E95B9-5665-A4B9-E092-07B7B2FCBE5B}"/>
                </a:ext>
              </a:extLst>
            </p:cNvPr>
            <p:cNvPicPr preferRelativeResize="0"/>
            <p:nvPr/>
          </p:nvPicPr>
          <p:blipFill>
            <a:blip r:embed="rId5" cstate="email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35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556760" y="579120"/>
              <a:ext cx="3771900" cy="4262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F27AA55-A37E-1811-A4F3-CB8AFE4B21B8}"/>
              </a:ext>
            </a:extLst>
          </p:cNvPr>
          <p:cNvGrpSpPr/>
          <p:nvPr/>
        </p:nvGrpSpPr>
        <p:grpSpPr>
          <a:xfrm>
            <a:off x="76200" y="160020"/>
            <a:ext cx="8983980" cy="4869179"/>
            <a:chOff x="76200" y="160020"/>
            <a:chExt cx="8983980" cy="486917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D00607E-AF1D-7828-C891-E49CA23D5788}"/>
                </a:ext>
              </a:extLst>
            </p:cNvPr>
            <p:cNvSpPr/>
            <p:nvPr/>
          </p:nvSpPr>
          <p:spPr>
            <a:xfrm>
              <a:off x="76200" y="160020"/>
              <a:ext cx="8983980" cy="4869179"/>
            </a:xfrm>
            <a:prstGeom prst="rect">
              <a:avLst/>
            </a:prstGeom>
            <a:solidFill>
              <a:schemeClr val="bg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56B205DE-C56A-8CC4-775A-EF4B536790DB}"/>
                </a:ext>
              </a:extLst>
            </p:cNvPr>
            <p:cNvGrpSpPr/>
            <p:nvPr/>
          </p:nvGrpSpPr>
          <p:grpSpPr>
            <a:xfrm>
              <a:off x="240030" y="512088"/>
              <a:ext cx="7169228" cy="3964465"/>
              <a:chOff x="240030" y="512088"/>
              <a:chExt cx="7169228" cy="3964465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D2B36B4-0C1F-D818-575D-8BF4064D30DE}"/>
                  </a:ext>
                </a:extLst>
              </p:cNvPr>
              <p:cNvSpPr/>
              <p:nvPr/>
            </p:nvSpPr>
            <p:spPr>
              <a:xfrm>
                <a:off x="240030" y="2542064"/>
                <a:ext cx="7169228" cy="1934489"/>
              </a:xfrm>
              <a:prstGeom prst="rect">
                <a:avLst/>
              </a:prstGeom>
              <a:solidFill>
                <a:srgbClr val="2C333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TW" altLang="en-US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UIUX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設計師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中級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R4~5 )  3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年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                  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      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</a:t>
                </a:r>
                <a:b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-------------------------------------------------------------------------------</a:t>
                </a: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負責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UI/UX 規劃與設計執行，依</a:t>
                </a:r>
                <a:r>
                  <a:rPr lang="zh-TW" altLang="zh-TW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產品定位、使用者需求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 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Design System</a:t>
                </a:r>
                <a:r>
                  <a:rPr lang="zh-TW" altLang="zh-TW" b="1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endParaRPr lang="en-US" altLang="zh-TW" b="1" dirty="0">
                  <a:solidFill>
                    <a:srgbClr val="B0852D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建立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介面及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互動規範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；運</a:t>
                </a:r>
                <a:r>
                  <a:rPr lang="zh-TW" altLang="zh-TW" u="sng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用</a:t>
                </a:r>
                <a:r>
                  <a:rPr lang="zh-TW" altLang="zh-TW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AI 工具輔助概念探索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、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原型</a:t>
                </a:r>
                <a:r>
                  <a:rPr lang="zh-TW" altLang="zh-TW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製作、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素材生成</a:t>
                </a:r>
                <a:r>
                  <a:rPr lang="zh-TW" altLang="zh-TW" u="sng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</a:t>
                </a:r>
                <a:br>
                  <a:rPr lang="en-US" altLang="zh-TW" u="sng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       </a:t>
                </a:r>
                <a:r>
                  <a:rPr lang="zh-TW" altLang="en-US" u="sng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設計驗證</a:t>
                </a:r>
                <a:endParaRPr lang="en-US" altLang="zh-TW" b="1" u="sng" dirty="0">
                  <a:solidFill>
                    <a:srgbClr val="B0852D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整合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PM、RD 與 AI 工具進行原型驗證與流程優化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endParaRPr lang="en-US" altLang="zh-TW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確保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產品體驗、</a:t>
                </a:r>
                <a:r>
                  <a:rPr lang="zh-TW" altLang="zh-TW" b="1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設計一致性與交付品質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zh-TW" altLang="en-US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endPara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AB3292D-4C4B-59A6-69CF-14ED9A83939B}"/>
                  </a:ext>
                </a:extLst>
              </p:cNvPr>
              <p:cNvSpPr/>
              <p:nvPr/>
            </p:nvSpPr>
            <p:spPr>
              <a:xfrm>
                <a:off x="240030" y="512088"/>
                <a:ext cx="7169228" cy="1795700"/>
              </a:xfrm>
              <a:prstGeom prst="rect">
                <a:avLst/>
              </a:prstGeom>
              <a:solidFill>
                <a:srgbClr val="2C333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TW" altLang="en-US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UI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組長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中級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R4~6 )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年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+    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                                       </a:t>
                </a:r>
                <a:b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-------------------------------------------------------------------------------</a:t>
                </a: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負責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專案 GUI</a:t>
                </a:r>
                <a:r>
                  <a:rPr lang="zh-TW" altLang="zh-TW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規劃與製作指導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，依據產品風格、特性與企圖，</a:t>
                </a:r>
                <a:endParaRPr lang="en-US" altLang="zh-TW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提供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使用者經驗分析、</a:t>
                </a:r>
                <a:r>
                  <a:rPr lang="zh-TW" altLang="zh-TW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操控邏輯定義與 UI 頁面流程建立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；</a:t>
                </a:r>
                <a:endParaRPr lang="en-US" altLang="zh-TW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掌控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介面 Layout、Icon 與互動視覺</a:t>
                </a:r>
                <a:r>
                  <a:rPr lang="zh-TW" altLang="zh-TW" u="sng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呈現品質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</a:t>
                </a:r>
                <a:endParaRPr lang="en-US" altLang="zh-TW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   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達到</a:t>
                </a:r>
                <a:r>
                  <a:rPr lang="en-US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</a:t>
                </a:r>
                <a:r>
                  <a:rPr lang="zh-TW" altLang="en-US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與遊戲開發的最佳</a:t>
                </a:r>
                <a:r>
                  <a:rPr lang="zh-TW" altLang="zh-TW" dirty="0">
                    <a:solidFill>
                      <a:srgbClr val="B0852D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搭配表現</a:t>
                </a:r>
                <a:r>
                  <a:rPr lang="zh-TW" altLang="zh-TW" dirty="0">
                    <a:solidFill>
                      <a:schemeClr val="bg1">
                        <a:lumMod val="8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zh-TW" altLang="en-US" dirty="0">
                  <a:solidFill>
                    <a:schemeClr val="bg1">
                      <a:lumMod val="8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18" name="箭號: 五邊形 17">
            <a:extLst>
              <a:ext uri="{FF2B5EF4-FFF2-40B4-BE49-F238E27FC236}">
                <a16:creationId xmlns:a16="http://schemas.microsoft.com/office/drawing/2014/main" id="{40E4BB32-8BE7-34F2-1CB9-0DC4A9FA6A18}"/>
              </a:ext>
            </a:extLst>
          </p:cNvPr>
          <p:cNvSpPr/>
          <p:nvPr/>
        </p:nvSpPr>
        <p:spPr>
          <a:xfrm flipH="1">
            <a:off x="6686338" y="1690050"/>
            <a:ext cx="2306460" cy="1564225"/>
          </a:xfrm>
          <a:prstGeom prst="homePlate">
            <a:avLst>
              <a:gd name="adj" fmla="val 20968"/>
            </a:avLst>
          </a:prstGeom>
          <a:solidFill>
            <a:srgbClr val="B08D5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主動性  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設計思考 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跨部整合</a:t>
            </a:r>
            <a:b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AI輔助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505C785E-47DC-E7D3-00CF-2307915F42B1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6" name="箭號: 五邊形 5">
              <a:extLst>
                <a:ext uri="{FF2B5EF4-FFF2-40B4-BE49-F238E27FC236}">
                  <a16:creationId xmlns:a16="http://schemas.microsoft.com/office/drawing/2014/main" id="{C6E03B8B-6D03-D13E-3E63-915FBF7946C4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JD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 描述變化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118BC59-AA5C-6D56-3C92-AD2CCB1E14A2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2C9139BD-8D29-A76D-A1DA-CA0B2C84CDEB}"/>
              </a:ext>
            </a:extLst>
          </p:cNvPr>
          <p:cNvSpPr/>
          <p:nvPr/>
        </p:nvSpPr>
        <p:spPr>
          <a:xfrm>
            <a:off x="3348394" y="2154009"/>
            <a:ext cx="952500" cy="681703"/>
          </a:xfrm>
          <a:prstGeom prst="downArrow">
            <a:avLst>
              <a:gd name="adj1" fmla="val 70800"/>
              <a:gd name="adj2" fmla="val 50000"/>
            </a:avLst>
          </a:prstGeom>
          <a:solidFill>
            <a:schemeClr val="accent3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4" name="Google Shape;649;p31">
            <a:extLst>
              <a:ext uri="{FF2B5EF4-FFF2-40B4-BE49-F238E27FC236}">
                <a16:creationId xmlns:a16="http://schemas.microsoft.com/office/drawing/2014/main" id="{3AC9CFA6-925B-2461-2F00-526D8F7DA683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3946C801-CBF5-2FB9-A5DD-58FC38C049B0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0824512B-1726-5965-4375-557F01791D9F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1;p17">
            <a:extLst>
              <a:ext uri="{FF2B5EF4-FFF2-40B4-BE49-F238E27FC236}">
                <a16:creationId xmlns:a16="http://schemas.microsoft.com/office/drawing/2014/main" id="{C9A77676-1D6F-1E51-1584-E514228B8BBC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背  景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10;p17">
            <a:extLst>
              <a:ext uri="{FF2B5EF4-FFF2-40B4-BE49-F238E27FC236}">
                <a16:creationId xmlns:a16="http://schemas.microsoft.com/office/drawing/2014/main" id="{AB853171-8F1D-F3E8-AE1E-987CFFFFE881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3</a:t>
            </a:r>
            <a:r>
              <a:rPr lang="zh-TW" altLang="en-US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5A67B9B-BD76-D3EF-374D-DD05554845A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6241" y="944880"/>
            <a:ext cx="8078787" cy="3779520"/>
          </a:xfrm>
          <a:prstGeom prst="rect">
            <a:avLst/>
          </a:prstGeom>
        </p:spPr>
      </p:pic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6574600A-0859-DAC4-D916-36859543EB2F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發現 進入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JD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職缺描述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多年來首次較大改變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" name="Google Shape;89;p17">
            <a:extLst>
              <a:ext uri="{FF2B5EF4-FFF2-40B4-BE49-F238E27FC236}">
                <a16:creationId xmlns:a16="http://schemas.microsoft.com/office/drawing/2014/main" id="{BED70002-FB65-43F8-84AF-839473000FF5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30D94C10-8591-1829-72A6-63F884586BBA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1;p17">
            <a:extLst>
              <a:ext uri="{FF2B5EF4-FFF2-40B4-BE49-F238E27FC236}">
                <a16:creationId xmlns:a16="http://schemas.microsoft.com/office/drawing/2014/main" id="{FCE19979-E937-D399-9B2F-012177B9B715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背  景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78CB492F-03E0-CEB2-6CBC-78C5244E723F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43F7E90B-E59F-12CD-0682-AEFB1CB1172E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81267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534D0EE9-1882-F93D-1152-0C94E42E98C8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4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3;p17">
            <a:extLst>
              <a:ext uri="{FF2B5EF4-FFF2-40B4-BE49-F238E27FC236}">
                <a16:creationId xmlns:a16="http://schemas.microsoft.com/office/drawing/2014/main" id="{45A8FAB2-167D-52FB-0A1B-076437F1E041}"/>
              </a:ext>
            </a:extLst>
          </p:cNvPr>
          <p:cNvSpPr/>
          <p:nvPr/>
        </p:nvSpPr>
        <p:spPr>
          <a:xfrm>
            <a:off x="3212262" y="1159201"/>
            <a:ext cx="2540160" cy="2679918"/>
          </a:xfrm>
          <a:prstGeom prst="rect">
            <a:avLst/>
          </a:prstGeom>
          <a:solidFill>
            <a:srgbClr val="F2F0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3;p17">
            <a:extLst>
              <a:ext uri="{FF2B5EF4-FFF2-40B4-BE49-F238E27FC236}">
                <a16:creationId xmlns:a16="http://schemas.microsoft.com/office/drawing/2014/main" id="{200803AA-08B9-F3A5-AF2C-F644A89FE718}"/>
              </a:ext>
            </a:extLst>
          </p:cNvPr>
          <p:cNvSpPr/>
          <p:nvPr/>
        </p:nvSpPr>
        <p:spPr>
          <a:xfrm>
            <a:off x="5875938" y="1159201"/>
            <a:ext cx="2540160" cy="2679918"/>
          </a:xfrm>
          <a:prstGeom prst="rect">
            <a:avLst/>
          </a:prstGeom>
          <a:solidFill>
            <a:srgbClr val="F2F0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48640" y="1159201"/>
            <a:ext cx="2540160" cy="2679918"/>
          </a:xfrm>
          <a:prstGeom prst="rect">
            <a:avLst/>
          </a:prstGeom>
          <a:solidFill>
            <a:srgbClr val="F2F0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706302" y="136393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Autor, Levy &amp; Murnane (2003)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06302" y="17559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ALM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理論</a:t>
            </a:r>
            <a:b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</a:br>
            <a:r>
              <a:rPr 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技術變革對技能內容的影響</a:t>
            </a:r>
            <a:endParaRPr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26029" y="2312588"/>
            <a:ext cx="22860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工具技能</a:t>
            </a:r>
            <a:endParaRPr lang="en-US" altLang="zh-TW" sz="1500" b="1" dirty="0">
              <a:solidFill>
                <a:srgbClr val="2C33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由核心競爭力逐步轉為</a:t>
            </a:r>
            <a:br>
              <a:rPr lang="en-US" altLang="zh-TW" sz="1500" b="1" dirty="0">
                <a:solidFill>
                  <a:srgbClr val="2C3338"/>
                </a:solidFill>
              </a:rPr>
            </a:br>
            <a:r>
              <a:rPr lang="zh-TW" sz="1500" b="1" dirty="0">
                <a:solidFill>
                  <a:srgbClr val="2C3338"/>
                </a:solidFill>
              </a:rPr>
              <a:t>預設門檻。</a:t>
            </a: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466422" y="136393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WEF Future of Jobs (2025)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466422" y="175986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787A7F"/>
              </a:buClr>
              <a:buSzPts val="900"/>
            </a:pPr>
            <a:r>
              <a:rPr 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世界經濟論壇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  </a:t>
            </a:r>
            <a:endParaRPr lang="en-US" altLang="zh-TW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  <a:p>
            <a:pPr lvl="0">
              <a:buClr>
                <a:srgbClr val="787A7F"/>
              </a:buClr>
              <a:buSzPts val="900"/>
            </a:pPr>
            <a:r>
              <a:rPr lang="zh-TW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2025年未來就業報告</a:t>
            </a:r>
            <a:endParaRPr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364200" y="2311238"/>
            <a:ext cx="22860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認知型技能</a:t>
            </a:r>
            <a:endParaRPr lang="en-US" altLang="zh-TW" sz="1500" b="1" dirty="0">
              <a:solidFill>
                <a:srgbClr val="2C33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情境判斷、需求理解、創意整合</a:t>
            </a:r>
            <a:r>
              <a:rPr lang="zh-TW" altLang="en-US" sz="1500" b="1" dirty="0">
                <a:solidFill>
                  <a:srgbClr val="2C3338"/>
                </a:solidFill>
              </a:rPr>
              <a:t>，</a:t>
            </a:r>
            <a:r>
              <a:rPr lang="zh-TW" sz="1500" b="1" dirty="0">
                <a:solidFill>
                  <a:srgbClr val="2C3338"/>
                </a:solidFill>
              </a:rPr>
              <a:t>正反轉式性提升</a:t>
            </a:r>
            <a:r>
              <a:rPr lang="zh-TW" altLang="en-US" sz="1500" b="1" dirty="0">
                <a:solidFill>
                  <a:srgbClr val="2C3338"/>
                </a:solidFill>
              </a:rPr>
              <a:t>重要性</a:t>
            </a:r>
            <a:r>
              <a:rPr lang="zh-TW" sz="1500" b="1" dirty="0">
                <a:solidFill>
                  <a:srgbClr val="2C3338"/>
                </a:solidFill>
              </a:rPr>
              <a:t>。</a:t>
            </a: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068142" y="136393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PwC AI Jobs Barometer (2025)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068142" y="16839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787A7F"/>
              </a:buClr>
              <a:buSzPts val="900"/>
            </a:pPr>
            <a:r>
              <a:rPr lang="zh-TW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全球人工智慧就業狀況指標</a:t>
            </a:r>
            <a:endParaRPr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056982" y="2294242"/>
            <a:ext cx="22860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AI 溢價集中於</a:t>
            </a:r>
            <a:endParaRPr lang="en-US" altLang="zh-TW" sz="1500" b="1" dirty="0">
              <a:solidFill>
                <a:srgbClr val="2C3338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300"/>
              <a:buFont typeface="Georgia"/>
              <a:buNone/>
            </a:pPr>
            <a:r>
              <a:rPr lang="zh-TW" sz="1500" b="1" dirty="0">
                <a:solidFill>
                  <a:srgbClr val="2C3338"/>
                </a:solidFill>
              </a:rPr>
              <a:t>能整合 AI</a:t>
            </a:r>
            <a:r>
              <a:rPr lang="zh-TW" sz="1500" b="1" dirty="0">
                <a:solidFill>
                  <a:schemeClr val="dk1"/>
                </a:solidFill>
              </a:rPr>
              <a:t> </a:t>
            </a:r>
            <a:r>
              <a:rPr lang="zh-TW" sz="1500" b="1" dirty="0">
                <a:solidFill>
                  <a:srgbClr val="2C3338"/>
                </a:solidFill>
              </a:rPr>
              <a:t>解決問題的高層次人才</a:t>
            </a:r>
            <a:r>
              <a:rPr lang="zh-TW" altLang="en-US" sz="1500" b="1" dirty="0">
                <a:solidFill>
                  <a:srgbClr val="2C3338"/>
                </a:solidFill>
              </a:rPr>
              <a:t>，</a:t>
            </a:r>
            <a:r>
              <a:rPr lang="zh-TW" sz="1500" b="1" dirty="0">
                <a:solidFill>
                  <a:srgbClr val="2C3338"/>
                </a:solidFill>
              </a:rPr>
              <a:t>而非</a:t>
            </a:r>
            <a:r>
              <a:rPr lang="zh-TW" altLang="en-US" sz="1500" b="1" dirty="0">
                <a:solidFill>
                  <a:srgbClr val="2C3338"/>
                </a:solidFill>
              </a:rPr>
              <a:t> </a:t>
            </a:r>
            <a:r>
              <a:rPr lang="zh-TW" sz="1500" b="1" dirty="0">
                <a:solidFill>
                  <a:srgbClr val="2C3338"/>
                </a:solidFill>
              </a:rPr>
              <a:t>會操作工具的執行者。</a:t>
            </a: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850504" y="4111695"/>
            <a:ext cx="768096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400"/>
              <a:buFont typeface="Calibri"/>
              <a:buNone/>
            </a:pPr>
            <a:r>
              <a:rPr 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但是 — 此一市場轉變多以觀察性描述為主，缺乏</a:t>
            </a:r>
            <a:r>
              <a:rPr lang="zh-TW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本地化</a:t>
            </a:r>
            <a:r>
              <a:rPr lang="en-US" alt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zh-TW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現時</a:t>
            </a:r>
            <a:r>
              <a:rPr lang="en-US" alt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系統性的職缺量化資料加以印證。</a:t>
            </a:r>
            <a:endParaRPr lang="en-US" altLang="zh-TW" sz="14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400"/>
              <a:buFont typeface="Calibri"/>
              <a:buNone/>
            </a:pPr>
            <a:r>
              <a:rPr lang="zh-TW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            並進而探討其潛在資訊。</a:t>
            </a:r>
            <a:endParaRPr sz="14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57200" y="4864608"/>
            <a:ext cx="795889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787A7F"/>
              </a:buClr>
              <a:buSzPts val="900"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r>
              <a:rPr lang="en-US" alt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                                            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D6AD8AAF-FD49-2CF2-08BC-9206315F7D63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 學術與文獻 與研究缺口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2927C5C9-9518-6039-87C2-5704CF552071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EE5542EF-9202-EA47-67D5-6EE2332422DD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1;p17">
            <a:extLst>
              <a:ext uri="{FF2B5EF4-FFF2-40B4-BE49-F238E27FC236}">
                <a16:creationId xmlns:a16="http://schemas.microsoft.com/office/drawing/2014/main" id="{2D18D353-52B4-7EF7-90E5-7A65A217A8F2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背  景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62;p15">
            <a:extLst>
              <a:ext uri="{FF2B5EF4-FFF2-40B4-BE49-F238E27FC236}">
                <a16:creationId xmlns:a16="http://schemas.microsoft.com/office/drawing/2014/main" id="{4FCC481A-48C1-552B-022A-9FCB09A43538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4455863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10;p17">
            <a:extLst>
              <a:ext uri="{FF2B5EF4-FFF2-40B4-BE49-F238E27FC236}">
                <a16:creationId xmlns:a16="http://schemas.microsoft.com/office/drawing/2014/main" id="{96F27F8D-CE47-2A99-A3F6-3D96CA82E6E7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5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7274-1E13-4B38-17A7-A16A79D9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291A2C-66F5-AEEC-6682-7CD740A4A9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 contras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40" t="16503" r="3840" b="23979"/>
          <a:stretch>
            <a:fillRect/>
          </a:stretch>
        </p:blipFill>
        <p:spPr>
          <a:xfrm>
            <a:off x="457200" y="1020695"/>
            <a:ext cx="8002588" cy="3083132"/>
          </a:xfrm>
          <a:prstGeom prst="rect">
            <a:avLst/>
          </a:prstGeom>
        </p:spPr>
      </p:pic>
      <p:sp>
        <p:nvSpPr>
          <p:cNvPr id="3" name="Google Shape;108;p17">
            <a:extLst>
              <a:ext uri="{FF2B5EF4-FFF2-40B4-BE49-F238E27FC236}">
                <a16:creationId xmlns:a16="http://schemas.microsoft.com/office/drawing/2014/main" id="{42F92250-EC34-B0CC-8A1C-EBA542285F2A}"/>
              </a:ext>
            </a:extLst>
          </p:cNvPr>
          <p:cNvSpPr/>
          <p:nvPr/>
        </p:nvSpPr>
        <p:spPr>
          <a:xfrm>
            <a:off x="850504" y="4272630"/>
            <a:ext cx="768096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400"/>
              <a:buFont typeface="Calibri"/>
              <a:buNone/>
            </a:pPr>
            <a:r>
              <a:rPr lang="zh-TW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分析結果</a:t>
            </a:r>
            <a:r>
              <a:rPr 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—</a:t>
            </a:r>
            <a:r>
              <a:rPr lang="zh-TW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工具技能正從 核心競爭力 降格為 預設門檻 ，</a:t>
            </a:r>
            <a:r>
              <a:rPr lang="zh-TW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具備整合</a:t>
            </a:r>
            <a:r>
              <a: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zh-TW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解決問題的高層次人才</a:t>
            </a:r>
            <a:br>
              <a: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lang="zh-TW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產生較大溢價可能</a:t>
            </a:r>
            <a:r>
              <a:rPr lang="zh-TW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。</a:t>
            </a:r>
            <a:endParaRPr sz="1400" b="1" dirty="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96;p25">
            <a:extLst>
              <a:ext uri="{FF2B5EF4-FFF2-40B4-BE49-F238E27FC236}">
                <a16:creationId xmlns:a16="http://schemas.microsoft.com/office/drawing/2014/main" id="{6BD2A74B-B248-21BD-F646-44F059CED1EA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正在發生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Agentic AI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驅動的職缺結構性變化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5" name="Google Shape;89;p17">
            <a:extLst>
              <a:ext uri="{FF2B5EF4-FFF2-40B4-BE49-F238E27FC236}">
                <a16:creationId xmlns:a16="http://schemas.microsoft.com/office/drawing/2014/main" id="{D3251D7F-7397-52C2-A96E-809BB96B1EB5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0;p17">
            <a:extLst>
              <a:ext uri="{FF2B5EF4-FFF2-40B4-BE49-F238E27FC236}">
                <a16:creationId xmlns:a16="http://schemas.microsoft.com/office/drawing/2014/main" id="{009B6D90-B41E-460C-CFC3-AFCA24CC9112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1;p17">
            <a:extLst>
              <a:ext uri="{FF2B5EF4-FFF2-40B4-BE49-F238E27FC236}">
                <a16:creationId xmlns:a16="http://schemas.microsoft.com/office/drawing/2014/main" id="{B5415904-B18F-F1A5-923A-BE79ECD2A300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背  景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84AD2EFC-3DDC-7D8E-6DD5-CE14D4D1F379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62;p15">
            <a:extLst>
              <a:ext uri="{FF2B5EF4-FFF2-40B4-BE49-F238E27FC236}">
                <a16:creationId xmlns:a16="http://schemas.microsoft.com/office/drawing/2014/main" id="{5691C587-777D-051C-7660-3E033F571D65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823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10;p17">
            <a:extLst>
              <a:ext uri="{FF2B5EF4-FFF2-40B4-BE49-F238E27FC236}">
                <a16:creationId xmlns:a16="http://schemas.microsoft.com/office/drawing/2014/main" id="{0C20275E-50AB-6EB7-486C-58EF142ACE0B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6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866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67B9FBE-0F6F-163F-A5F5-7739C09DDF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5840" y="1170434"/>
            <a:ext cx="8420100" cy="2904360"/>
          </a:xfrm>
          <a:prstGeom prst="rect">
            <a:avLst/>
          </a:prstGeom>
        </p:spPr>
      </p:pic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D18968C8-AC46-1A90-8F31-264F66F68886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三個研究問題 從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JD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關鍵描述現象做探針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" name="Google Shape;89;p17">
            <a:extLst>
              <a:ext uri="{FF2B5EF4-FFF2-40B4-BE49-F238E27FC236}">
                <a16:creationId xmlns:a16="http://schemas.microsoft.com/office/drawing/2014/main" id="{66B0972E-9DB5-EEB6-787B-E14CB381ED93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AF812CCA-6F01-553E-3A08-BA7637CD102B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1;p17">
            <a:extLst>
              <a:ext uri="{FF2B5EF4-FFF2-40B4-BE49-F238E27FC236}">
                <a16:creationId xmlns:a16="http://schemas.microsoft.com/office/drawing/2014/main" id="{AA5D08AC-46BF-CB0E-A334-21842F07965A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</a:t>
            </a: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方 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49;p31">
            <a:extLst>
              <a:ext uri="{FF2B5EF4-FFF2-40B4-BE49-F238E27FC236}">
                <a16:creationId xmlns:a16="http://schemas.microsoft.com/office/drawing/2014/main" id="{4C205E6D-5FC9-3A35-91EF-D1DFEF08EC69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07A32248-CC63-7BCD-C4F7-8A7F4D7CE7F1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58803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0;p17">
            <a:extLst>
              <a:ext uri="{FF2B5EF4-FFF2-40B4-BE49-F238E27FC236}">
                <a16:creationId xmlns:a16="http://schemas.microsoft.com/office/drawing/2014/main" id="{6F347E02-1953-BB75-2195-50C818F1E5F3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7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72D2B11-655A-3B28-E662-2E475F1692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2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390" t="15704" r="2225" b="7556"/>
          <a:stretch>
            <a:fillRect/>
          </a:stretch>
        </p:blipFill>
        <p:spPr>
          <a:xfrm>
            <a:off x="320040" y="922020"/>
            <a:ext cx="8230541" cy="3688080"/>
          </a:xfrm>
          <a:prstGeom prst="rect">
            <a:avLst/>
          </a:prstGeom>
          <a:effectLst/>
        </p:spPr>
      </p:pic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82DF5BA9-DC6E-81A9-2460-E1F827E2A49F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關鍵職缺取樣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" name="Google Shape;89;p17">
            <a:extLst>
              <a:ext uri="{FF2B5EF4-FFF2-40B4-BE49-F238E27FC236}">
                <a16:creationId xmlns:a16="http://schemas.microsoft.com/office/drawing/2014/main" id="{DB143387-D42D-8DEE-98F5-BA766EFFB1EF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E6531EF6-1A4E-D105-48DA-44399D086508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1;p17">
            <a:extLst>
              <a:ext uri="{FF2B5EF4-FFF2-40B4-BE49-F238E27FC236}">
                <a16:creationId xmlns:a16="http://schemas.microsoft.com/office/drawing/2014/main" id="{A20A06CF-AB14-A47A-1B0B-B40B7ED0E3D8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</a:t>
            </a: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方 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B7D96397-246B-A352-51E2-AA81B5825EE0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0B809286-6C8A-66D7-B094-2D4118697D05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24603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EEDF81A1-F6E2-FB2F-F001-3E6FC82F7735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8</a:t>
            </a:r>
            <a:r>
              <a:rPr lang="zh-TW" altLang="en-US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030B-22D9-9CE3-9A05-07A5FD83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E7453955-D120-AA8D-7D30-EA3923AEA418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資料分析流程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" name="Google Shape;89;p17">
            <a:extLst>
              <a:ext uri="{FF2B5EF4-FFF2-40B4-BE49-F238E27FC236}">
                <a16:creationId xmlns:a16="http://schemas.microsoft.com/office/drawing/2014/main" id="{DD610992-5EB7-2755-6043-AA7C883D38ED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E3BD5D93-CD92-77E1-B718-06AB929C0AF5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1;p17">
            <a:extLst>
              <a:ext uri="{FF2B5EF4-FFF2-40B4-BE49-F238E27FC236}">
                <a16:creationId xmlns:a16="http://schemas.microsoft.com/office/drawing/2014/main" id="{30F4A314-06DA-E773-00B8-919EBA19D730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</a:t>
            </a: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方 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C130EF36-DA45-1151-CC37-F35251DDBE57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A71D9A0D-4B0C-11B7-D267-F81265A2CB06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2431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C19EB0FF-B2C1-7B50-C78D-BDA3E41B1F9D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9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2C550E-5AD6-E7AF-1163-60C0F210DA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0"/>
                    </a14:imgEffect>
                    <a14:imgEffect>
                      <a14:brightnessContrast bright="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9560" y="976805"/>
            <a:ext cx="8602980" cy="33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9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9000" contrast="-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334" t="15714" r="2500" b="5058"/>
          <a:stretch>
            <a:fillRect/>
          </a:stretch>
        </p:blipFill>
        <p:spPr>
          <a:xfrm>
            <a:off x="473504" y="976806"/>
            <a:ext cx="8196991" cy="3682610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3C05259C-A4EF-3AE7-4ACD-8F2343CD2552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測量尺規一 </a:t>
            </a:r>
            <a:r>
              <a:rPr lang="en-US" altLang="zh-TW" sz="2400" b="1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L1-L4</a:t>
            </a:r>
            <a:r>
              <a:rPr lang="zh-TW" altLang="en-US" sz="2400" b="1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能力層級 框架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111C6C03-3649-50B8-3089-1B9400FCC4E6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1E6E0A16-6E3A-54EC-324F-24DA27058867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072F43CA-C0E6-EDB8-747F-4CE11BE7DBFC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</a:t>
            </a: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方 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9C594C23-6C4E-000A-45A3-9BB6B5D7CAA0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1FD18A94-B847-5C64-A9F1-2DDAE524302B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5383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FB1E94A-BB5D-3B50-1189-44C41F247D45}"/>
              </a:ext>
            </a:extLst>
          </p:cNvPr>
          <p:cNvSpPr txBox="1"/>
          <p:nvPr/>
        </p:nvSpPr>
        <p:spPr>
          <a:xfrm>
            <a:off x="4786200" y="4427982"/>
            <a:ext cx="3587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借鏡台灣勞動部</a:t>
            </a:r>
            <a:r>
              <a:rPr lang="en-US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 </a:t>
            </a:r>
            <a:r>
              <a:rPr lang="en-US" altLang="zh-TW" sz="1100" dirty="0" err="1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iCAP</a:t>
            </a:r>
            <a:r>
              <a:rPr lang="en-US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 </a:t>
            </a:r>
            <a:r>
              <a:rPr lang="zh-TW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職能級別的能力描述框架</a:t>
            </a:r>
            <a:r>
              <a:rPr lang="en-US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4~6</a:t>
            </a:r>
            <a:r>
              <a:rPr lang="zh-TW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層</a:t>
            </a:r>
            <a:endParaRPr lang="en-US" altLang="zh-TW" sz="1100" dirty="0">
              <a:solidFill>
                <a:srgbClr val="27251E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標楷體" panose="03000509000000000000" pitchFamily="65" charset="-120"/>
            </a:endParaRPr>
          </a:p>
          <a:p>
            <a:r>
              <a:rPr lang="en-US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(</a:t>
            </a:r>
            <a:r>
              <a:rPr lang="zh-TW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該框架亦是新加坡與香港常見之能力分層邏輯</a:t>
            </a:r>
            <a:r>
              <a:rPr lang="en-US" altLang="zh-TW" sz="1100" dirty="0">
                <a:solidFill>
                  <a:srgbClr val="27251E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) </a:t>
            </a: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Google Shape;110;p17">
            <a:extLst>
              <a:ext uri="{FF2B5EF4-FFF2-40B4-BE49-F238E27FC236}">
                <a16:creationId xmlns:a16="http://schemas.microsoft.com/office/drawing/2014/main" id="{A5DBDC65-E3F1-688F-03AE-2AF3885AB34D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10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4D84-9CE7-BD68-9D4D-BD7398BF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CA9CCAE-F526-A8C3-BB3D-178E14F652E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029" y="614776"/>
            <a:ext cx="7324501" cy="4379987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1A9DB384-6E7B-8EB3-5E1F-4C5262ECB6A0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3" name="箭號: 五邊形 2">
              <a:extLst>
                <a:ext uri="{FF2B5EF4-FFF2-40B4-BE49-F238E27FC236}">
                  <a16:creationId xmlns:a16="http://schemas.microsoft.com/office/drawing/2014/main" id="{07BCF602-6185-7432-D740-0D3F73AA45B7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B08D57"/>
            </a:solidFill>
            <a:ln>
              <a:solidFill>
                <a:srgbClr val="B085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本次數據 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趨勢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變化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301D522-8246-0633-940C-8854BCC02BB0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B08D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Google Shape;396;p25">
            <a:extLst>
              <a:ext uri="{FF2B5EF4-FFF2-40B4-BE49-F238E27FC236}">
                <a16:creationId xmlns:a16="http://schemas.microsoft.com/office/drawing/2014/main" id="{1F07EE3F-297A-8EBB-3EC5-54ACBA040896}"/>
              </a:ext>
            </a:extLst>
          </p:cNvPr>
          <p:cNvSpPr/>
          <p:nvPr/>
        </p:nvSpPr>
        <p:spPr>
          <a:xfrm>
            <a:off x="850539" y="295958"/>
            <a:ext cx="71416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en-US" altLang="zh-TW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AI</a:t>
            </a:r>
            <a:r>
              <a:rPr lang="zh-TW" altLang="en-US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技能關鍵字在設計</a:t>
            </a:r>
            <a:r>
              <a:rPr lang="en-US" altLang="zh-TW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JD</a:t>
            </a:r>
            <a:r>
              <a:rPr lang="zh-TW" altLang="en-US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的 </a:t>
            </a:r>
            <a:r>
              <a:rPr lang="en-US" altLang="zh-TW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J</a:t>
            </a:r>
            <a:r>
              <a:rPr lang="zh-TW" altLang="en-US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型曲線與區域時差</a:t>
            </a:r>
            <a:r>
              <a:rPr lang="en-US" altLang="zh-TW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(2023-2026</a:t>
            </a:r>
            <a:r>
              <a:rPr lang="zh-TW" altLang="en-US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16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H1)</a:t>
            </a:r>
            <a:endParaRPr sz="16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11" name="Google Shape;89;p17">
            <a:extLst>
              <a:ext uri="{FF2B5EF4-FFF2-40B4-BE49-F238E27FC236}">
                <a16:creationId xmlns:a16="http://schemas.microsoft.com/office/drawing/2014/main" id="{AAB10DF2-203F-AD7A-51D5-42614B380487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0;p17">
            <a:extLst>
              <a:ext uri="{FF2B5EF4-FFF2-40B4-BE49-F238E27FC236}">
                <a16:creationId xmlns:a16="http://schemas.microsoft.com/office/drawing/2014/main" id="{D0E8F439-3990-359C-1FE4-9757B61976FA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91;p17">
            <a:extLst>
              <a:ext uri="{FF2B5EF4-FFF2-40B4-BE49-F238E27FC236}">
                <a16:creationId xmlns:a16="http://schemas.microsoft.com/office/drawing/2014/main" id="{718DA4E9-D1D8-FF5D-540F-5A98740BCE8D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研  究  </a:t>
            </a: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方 式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10;p17">
            <a:extLst>
              <a:ext uri="{FF2B5EF4-FFF2-40B4-BE49-F238E27FC236}">
                <a16:creationId xmlns:a16="http://schemas.microsoft.com/office/drawing/2014/main" id="{93EE8C73-1C9E-4F9D-B5AF-50DA4958FD1E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11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338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111136-90CC-DC11-7691-9BD05B5CCC07}"/>
              </a:ext>
            </a:extLst>
          </p:cNvPr>
          <p:cNvSpPr/>
          <p:nvPr/>
        </p:nvSpPr>
        <p:spPr>
          <a:xfrm>
            <a:off x="0" y="1554480"/>
            <a:ext cx="9144000" cy="1516380"/>
          </a:xfrm>
          <a:prstGeom prst="rect">
            <a:avLst/>
          </a:prstGeom>
          <a:solidFill>
            <a:srgbClr val="B085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1763C32-1256-39FD-B8BE-EE536185BFC0}"/>
              </a:ext>
            </a:extLst>
          </p:cNvPr>
          <p:cNvSpPr txBox="1"/>
          <p:nvPr/>
        </p:nvSpPr>
        <p:spPr>
          <a:xfrm>
            <a:off x="2002536" y="1804392"/>
            <a:ext cx="5138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三維度 分析</a:t>
            </a:r>
          </a:p>
        </p:txBody>
      </p:sp>
      <p:sp>
        <p:nvSpPr>
          <p:cNvPr id="3" name="Google Shape;110;p17">
            <a:extLst>
              <a:ext uri="{FF2B5EF4-FFF2-40B4-BE49-F238E27FC236}">
                <a16:creationId xmlns:a16="http://schemas.microsoft.com/office/drawing/2014/main" id="{DB0E0BEE-8270-F904-C980-BC1D6E9FCFD5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12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1004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BarChartRace_JD_2023-2026Top 10">
            <a:hlinkClick r:id="" action="ppaction://media"/>
            <a:extLst>
              <a:ext uri="{FF2B5EF4-FFF2-40B4-BE49-F238E27FC236}">
                <a16:creationId xmlns:a16="http://schemas.microsoft.com/office/drawing/2014/main" id="{F3B7F0E2-FBB3-8970-1FBF-E007B7E3160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94"/>
                  <p14:fade in="2000"/>
                </p14:media>
              </p:ext>
            </p:extLst>
          </p:nvPr>
        </p:nvPicPr>
        <p:blipFill>
          <a:blip r:embed="rId5"/>
          <a:srcRect t="15025"/>
          <a:stretch>
            <a:fillRect/>
          </a:stretch>
        </p:blipFill>
        <p:spPr>
          <a:xfrm>
            <a:off x="59732" y="814501"/>
            <a:ext cx="9008812" cy="382760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6C70245-6A31-1087-A4E9-F36CB173B97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4320" y="740664"/>
            <a:ext cx="8422683" cy="4129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892040"/>
            <a:ext cx="6400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 dirty="0">
                <a:solidFill>
                  <a:srgbClr val="6B6B6B"/>
                </a:solidFill>
                <a:latin typeface="Microsoft JhengHei"/>
              </a:rPr>
              <a:t>AI </a:t>
            </a:r>
            <a:r>
              <a:rPr sz="800" b="0" dirty="0" err="1">
                <a:solidFill>
                  <a:srgbClr val="6B6B6B"/>
                </a:solidFill>
                <a:latin typeface="Microsoft JhengHei"/>
              </a:rPr>
              <a:t>時代美術職能變化之探索性研究</a:t>
            </a:r>
            <a:r>
              <a:rPr sz="800" b="0" dirty="0">
                <a:solidFill>
                  <a:srgbClr val="6B6B6B"/>
                </a:solidFill>
                <a:latin typeface="Microsoft JhengHei"/>
              </a:rPr>
              <a:t>   ｜   SLTM 2026</a:t>
            </a:r>
          </a:p>
        </p:txBody>
      </p:sp>
      <p:sp>
        <p:nvSpPr>
          <p:cNvPr id="22" name="Google Shape;396;p25">
            <a:extLst>
              <a:ext uri="{FF2B5EF4-FFF2-40B4-BE49-F238E27FC236}">
                <a16:creationId xmlns:a16="http://schemas.microsoft.com/office/drawing/2014/main" id="{D57AC21E-451C-455C-6C38-38B90900A33B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維度一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Microsoft JhengHei"/>
              </a:rPr>
              <a:t>JD </a:t>
            </a:r>
            <a:r>
              <a:rPr lang="zh-TW" altLang="en-US" sz="2400" b="1" dirty="0">
                <a:solidFill>
                  <a:srgbClr val="B0852D"/>
                </a:solidFill>
                <a:latin typeface="Microsoft JhengHei"/>
              </a:rPr>
              <a:t>技能變化  </a:t>
            </a:r>
            <a:r>
              <a:rPr lang="en-US" altLang="zh-TW" sz="2400" b="1" dirty="0">
                <a:solidFill>
                  <a:srgbClr val="B0852D"/>
                </a:solidFill>
                <a:latin typeface="Microsoft JhengHei"/>
              </a:rPr>
              <a:t>2023.07</a:t>
            </a:r>
            <a:r>
              <a:rPr lang="zh-TW" altLang="en-US" sz="2400" b="1" dirty="0">
                <a:solidFill>
                  <a:srgbClr val="B0852D"/>
                </a:solidFill>
                <a:latin typeface="Microsoft JhengHei"/>
              </a:rPr>
              <a:t>→</a:t>
            </a:r>
            <a:r>
              <a:rPr lang="en-US" altLang="zh-TW" sz="2400" b="1" dirty="0">
                <a:solidFill>
                  <a:srgbClr val="B0852D"/>
                </a:solidFill>
                <a:latin typeface="Microsoft JhengHei"/>
              </a:rPr>
              <a:t>2026.5 </a:t>
            </a:r>
            <a:r>
              <a:rPr lang="en-US" altLang="zh-TW" sz="1000" b="1" dirty="0">
                <a:solidFill>
                  <a:srgbClr val="B0852D"/>
                </a:solidFill>
                <a:latin typeface="Microsoft JhengHei"/>
              </a:rPr>
              <a:t>(</a:t>
            </a:r>
            <a:r>
              <a:rPr lang="zh-TW" altLang="en-US" sz="1000" b="1" dirty="0">
                <a:solidFill>
                  <a:srgbClr val="B0852D"/>
                </a:solidFill>
                <a:latin typeface="Microsoft JhengHei"/>
              </a:rPr>
              <a:t>動態演示</a:t>
            </a:r>
            <a:r>
              <a:rPr lang="en-US" altLang="zh-TW" sz="1000" b="1" dirty="0">
                <a:solidFill>
                  <a:srgbClr val="B0852D"/>
                </a:solidFill>
                <a:latin typeface="Microsoft JhengHei"/>
              </a:rPr>
              <a:t>)</a:t>
            </a:r>
            <a:r>
              <a:rPr lang="zh-TW" altLang="en-US" sz="10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endParaRPr sz="10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3" name="Google Shape;89;p17">
            <a:extLst>
              <a:ext uri="{FF2B5EF4-FFF2-40B4-BE49-F238E27FC236}">
                <a16:creationId xmlns:a16="http://schemas.microsoft.com/office/drawing/2014/main" id="{95F1D5F0-C615-CC13-18EC-5FED94DFBBC7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90;p17">
            <a:extLst>
              <a:ext uri="{FF2B5EF4-FFF2-40B4-BE49-F238E27FC236}">
                <a16:creationId xmlns:a16="http://schemas.microsoft.com/office/drawing/2014/main" id="{1890435F-C7D3-FCAB-4F81-9338CC5000D7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91;p17">
            <a:extLst>
              <a:ext uri="{FF2B5EF4-FFF2-40B4-BE49-F238E27FC236}">
                <a16:creationId xmlns:a16="http://schemas.microsoft.com/office/drawing/2014/main" id="{DFD8A59E-603B-BC48-C05E-39E0A04C49B8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9310881C-AE68-05AF-70C0-FD2113150066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73788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10;p17">
            <a:extLst>
              <a:ext uri="{FF2B5EF4-FFF2-40B4-BE49-F238E27FC236}">
                <a16:creationId xmlns:a16="http://schemas.microsoft.com/office/drawing/2014/main" id="{E6CC6B51-5C35-C017-294D-3C567487E6D9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13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06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F14BD9D-C79C-9689-76F1-F203125AD0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2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5687"/>
          <a:stretch>
            <a:fillRect/>
          </a:stretch>
        </p:blipFill>
        <p:spPr>
          <a:xfrm>
            <a:off x="577900" y="923465"/>
            <a:ext cx="7713009" cy="3846542"/>
          </a:xfrm>
          <a:prstGeom prst="rect">
            <a:avLst/>
          </a:prstGeom>
        </p:spPr>
      </p:pic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D11E70FA-32B1-04FD-21A1-81639F056508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維度一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消退中的技能正轉為基本門檻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" name="Google Shape;89;p17">
            <a:extLst>
              <a:ext uri="{FF2B5EF4-FFF2-40B4-BE49-F238E27FC236}">
                <a16:creationId xmlns:a16="http://schemas.microsoft.com/office/drawing/2014/main" id="{B75CB55C-8EEA-4D4F-3D44-AC3D59D5A43F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90;p17">
            <a:extLst>
              <a:ext uri="{FF2B5EF4-FFF2-40B4-BE49-F238E27FC236}">
                <a16:creationId xmlns:a16="http://schemas.microsoft.com/office/drawing/2014/main" id="{8D1B8EF2-2B7E-F03D-7F5A-810A1E1A7AA0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1;p17">
            <a:extLst>
              <a:ext uri="{FF2B5EF4-FFF2-40B4-BE49-F238E27FC236}">
                <a16:creationId xmlns:a16="http://schemas.microsoft.com/office/drawing/2014/main" id="{8E4DDB9E-0CB8-1A7A-0421-3FF4FC399D44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ABBBC087-5256-CE9E-A16F-361E1B2DA2E0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865BA45B-37E2-9E10-099E-44696BC1B05C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4491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84E3534D-6E26-4971-FD23-2BD4AD6A6A17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14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57D0524C-59A9-6B9B-AD73-290A9F96F0C8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維度二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職位描述  明顯偏移現象，新興技能浮現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D9DEB6F3-031F-CF1A-0D6B-AF606E7AC056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9E3B037D-1AFE-3F30-FEC7-06693572D768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F49696BD-FA6D-C60D-E406-EEB8B818F828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653ED03D-F0A3-F5A2-7830-4DF3DE3148B9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049F111C-F173-DFAE-6534-2E29A773FA18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7234276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BBCA463B-C0A9-9FF6-7AB6-73A3EEEA579A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15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8ECD12D-E15A-FCBA-1D3C-5B42807050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 contrast="-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500" t="15415" r="7865" b="5058"/>
          <a:stretch>
            <a:fillRect/>
          </a:stretch>
        </p:blipFill>
        <p:spPr>
          <a:xfrm>
            <a:off x="533400" y="784859"/>
            <a:ext cx="7830503" cy="4056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"/>
          <p:cNvSpPr/>
          <p:nvPr/>
        </p:nvSpPr>
        <p:spPr>
          <a:xfrm>
            <a:off x="548640" y="1043940"/>
            <a:ext cx="3977640" cy="32232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22960" y="1524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800"/>
              <a:buFont typeface="Georgia"/>
              <a:buNone/>
            </a:pPr>
            <a:r>
              <a:rPr 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AI 生成工具</a:t>
            </a:r>
            <a:endParaRPr sz="20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822960" y="22555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6400"/>
              <a:buFont typeface="Georgia"/>
              <a:buNone/>
            </a:pPr>
            <a:r>
              <a:rPr lang="zh-TW" sz="6400" b="1" dirty="0">
                <a:solidFill>
                  <a:srgbClr val="20808D"/>
                </a:solidFill>
                <a:latin typeface="Georgia"/>
                <a:ea typeface="Georgia"/>
                <a:cs typeface="Georgia"/>
                <a:sym typeface="Georgia"/>
              </a:rPr>
              <a:t>R6.2</a:t>
            </a:r>
            <a:endParaRPr sz="6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868680" y="3032760"/>
            <a:ext cx="23940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100"/>
              <a:buFont typeface="Calibri"/>
              <a:buNone/>
            </a:pPr>
            <a:r>
              <a:rPr lang="zh-TW" sz="1800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L2 加速器層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2270760" y="1722120"/>
            <a:ext cx="126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1100"/>
              <a:buFont typeface="Calibri"/>
              <a:buNone/>
            </a:pPr>
            <a:r>
              <a:rPr lang="zh-TW" sz="2800" i="1" dirty="0">
                <a:solidFill>
                  <a:srgbClr val="20808D"/>
                </a:solidFill>
                <a:latin typeface="Calibri"/>
                <a:ea typeface="Calibri"/>
                <a:cs typeface="Calibri"/>
                <a:sym typeface="Calibri"/>
              </a:rPr>
              <a:t>+22.6pp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739140" y="3764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sz="1800" i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大幅浮現但仍屬執行加速範疇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4396740" y="1043940"/>
            <a:ext cx="3977640" cy="32232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4671060" y="1524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800"/>
              <a:buFont typeface="Georgia"/>
              <a:buNone/>
            </a:pPr>
            <a:r>
              <a:rPr lang="zh-TW" sz="2000" b="1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主動提案</a:t>
            </a:r>
            <a:endParaRPr sz="200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4671060" y="22555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6400"/>
              <a:buFont typeface="Georgia"/>
              <a:buNone/>
            </a:pPr>
            <a:r>
              <a:rPr lang="zh-TW" sz="6400" b="1" dirty="0">
                <a:solidFill>
                  <a:srgbClr val="B08D57"/>
                </a:solidFill>
                <a:latin typeface="Georgia"/>
                <a:ea typeface="Georgia"/>
                <a:cs typeface="Georgia"/>
                <a:sym typeface="Georgia"/>
              </a:rPr>
              <a:t>R6.7</a:t>
            </a:r>
            <a:endParaRPr sz="6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4716780" y="3063240"/>
            <a:ext cx="20497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1100"/>
              <a:buFont typeface="Calibri"/>
              <a:buNone/>
            </a:pPr>
            <a:r>
              <a:rPr lang="zh-TW" sz="1800" b="1" dirty="0">
                <a:solidFill>
                  <a:srgbClr val="F2F0E9"/>
                </a:solidFill>
                <a:latin typeface="Calibri"/>
                <a:ea typeface="Calibri"/>
                <a:cs typeface="Calibri"/>
                <a:sym typeface="Calibri"/>
              </a:rPr>
              <a:t>L3/L4 判斷層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5806440" y="1569720"/>
            <a:ext cx="1173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100"/>
              <a:buFont typeface="Calibri"/>
              <a:buNone/>
            </a:pPr>
            <a:r>
              <a:rPr lang="zh-TW" sz="2800" i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+44.0%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4663440" y="3764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1000"/>
              <a:buFont typeface="Calibri"/>
              <a:buNone/>
            </a:pPr>
            <a:r>
              <a:rPr lang="zh-TW" sz="1800" i="1" dirty="0">
                <a:solidFill>
                  <a:srgbClr val="F2F0E9"/>
                </a:solidFill>
                <a:latin typeface="Calibri"/>
                <a:ea typeface="Calibri"/>
                <a:cs typeface="Calibri"/>
                <a:sym typeface="Calibri"/>
              </a:rPr>
              <a:t>判斷層語言首現的職級節點 ★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300"/>
              <a:buFont typeface="Calibri"/>
              <a:buNone/>
            </a:pPr>
            <a:r>
              <a:rPr lang="zh-TW" sz="1300" b="1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結論 2：</a:t>
            </a:r>
            <a:r>
              <a:rPr lang="zh-TW" sz="1300" b="1">
                <a:solidFill>
                  <a:srgbClr val="2C3338"/>
                </a:solidFill>
                <a:latin typeface="Calibri"/>
                <a:ea typeface="Calibri"/>
                <a:cs typeface="Calibri"/>
                <a:sym typeface="Calibri"/>
              </a:rPr>
              <a:t>「會用 AI」與「有判斷能力」在職缺市場語言中已被清楚區分。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BF2C3832-71FB-3985-4C04-95AB0CEDEBC1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維度二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AI 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工具現於 </a:t>
            </a:r>
            <a:r>
              <a:rPr lang="en-US" altLang="zh-TW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R6.2  ≠  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判斷力現於 </a:t>
            </a:r>
            <a:r>
              <a:rPr lang="en-US" altLang="zh-TW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R6.7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 </a:t>
            </a:r>
            <a:endParaRPr sz="2400" b="1" dirty="0">
              <a:solidFill>
                <a:srgbClr val="B08D5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232F63DD-503F-9386-23D8-4D9BA457F919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CC65CC4E-40E0-6B12-D6C7-9DC4DBA90A1D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1;p17">
            <a:extLst>
              <a:ext uri="{FF2B5EF4-FFF2-40B4-BE49-F238E27FC236}">
                <a16:creationId xmlns:a16="http://schemas.microsoft.com/office/drawing/2014/main" id="{FF964A22-96C0-4432-B47B-8FDB326C711F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62;p15">
            <a:extLst>
              <a:ext uri="{FF2B5EF4-FFF2-40B4-BE49-F238E27FC236}">
                <a16:creationId xmlns:a16="http://schemas.microsoft.com/office/drawing/2014/main" id="{1AE0363B-7623-EC12-8C92-7BB137ECBD34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9207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10;p17">
            <a:extLst>
              <a:ext uri="{FF2B5EF4-FFF2-40B4-BE49-F238E27FC236}">
                <a16:creationId xmlns:a16="http://schemas.microsoft.com/office/drawing/2014/main" id="{E299CCD7-FE56-162E-2623-D24156DFAC98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16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8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7238"/>
          <a:stretch>
            <a:fillRect/>
          </a:stretch>
        </p:blipFill>
        <p:spPr>
          <a:xfrm>
            <a:off x="300990" y="975359"/>
            <a:ext cx="8123873" cy="3750469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B14E88DE-CCDD-59D7-F4D2-9E833FC05F61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維度三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薪資與能力變數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Pearson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係數變化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1910E8B2-63B6-5462-F437-E2FF1391535A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ADE1EFCD-9731-AF5E-DF42-42BCBAEA20C1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477E5DC0-5B32-1512-3322-6EB8CD0AB6FD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52078D7-01F0-0987-955B-A33C3A89B34E}"/>
              </a:ext>
            </a:extLst>
          </p:cNvPr>
          <p:cNvCxnSpPr>
            <a:cxnSpLocks/>
          </p:cNvCxnSpPr>
          <p:nvPr/>
        </p:nvCxnSpPr>
        <p:spPr>
          <a:xfrm>
            <a:off x="1394460" y="2019300"/>
            <a:ext cx="2575560" cy="617220"/>
          </a:xfrm>
          <a:prstGeom prst="straightConnector1">
            <a:avLst/>
          </a:prstGeom>
          <a:ln w="38100">
            <a:solidFill>
              <a:srgbClr val="C00000">
                <a:alpha val="29000"/>
              </a:srgb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8D59F11-2FF6-DBF0-48BD-F13E90695818}"/>
              </a:ext>
            </a:extLst>
          </p:cNvPr>
          <p:cNvCxnSpPr>
            <a:cxnSpLocks/>
          </p:cNvCxnSpPr>
          <p:nvPr/>
        </p:nvCxnSpPr>
        <p:spPr>
          <a:xfrm flipV="1">
            <a:off x="4975860" y="1889760"/>
            <a:ext cx="2110740" cy="624840"/>
          </a:xfrm>
          <a:prstGeom prst="straightConnector1">
            <a:avLst/>
          </a:prstGeom>
          <a:ln w="38100">
            <a:solidFill>
              <a:srgbClr val="7030A0">
                <a:alpha val="47000"/>
              </a:srgb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38CDEC5-17E9-BFE3-A516-265FB2186711}"/>
              </a:ext>
            </a:extLst>
          </p:cNvPr>
          <p:cNvCxnSpPr>
            <a:cxnSpLocks/>
          </p:cNvCxnSpPr>
          <p:nvPr/>
        </p:nvCxnSpPr>
        <p:spPr>
          <a:xfrm>
            <a:off x="7162800" y="1889760"/>
            <a:ext cx="929640" cy="624840"/>
          </a:xfrm>
          <a:prstGeom prst="straightConnector1">
            <a:avLst/>
          </a:prstGeom>
          <a:ln w="38100">
            <a:solidFill>
              <a:srgbClr val="7030A0">
                <a:alpha val="47000"/>
              </a:srgb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Google Shape;649;p31">
            <a:extLst>
              <a:ext uri="{FF2B5EF4-FFF2-40B4-BE49-F238E27FC236}">
                <a16:creationId xmlns:a16="http://schemas.microsoft.com/office/drawing/2014/main" id="{C7F168AB-C051-5063-72D3-2174D7AF3D00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62;p15">
            <a:extLst>
              <a:ext uri="{FF2B5EF4-FFF2-40B4-BE49-F238E27FC236}">
                <a16:creationId xmlns:a16="http://schemas.microsoft.com/office/drawing/2014/main" id="{6981B602-EB79-5C56-587D-93B9C108F835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5499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110;p17">
            <a:extLst>
              <a:ext uri="{FF2B5EF4-FFF2-40B4-BE49-F238E27FC236}">
                <a16:creationId xmlns:a16="http://schemas.microsoft.com/office/drawing/2014/main" id="{6880B4CE-76CC-0C2D-6152-8805F29610D5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17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9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62" t="6020" b="-2371"/>
          <a:stretch>
            <a:fillRect/>
          </a:stretch>
        </p:blipFill>
        <p:spPr>
          <a:xfrm>
            <a:off x="548640" y="765493"/>
            <a:ext cx="7773309" cy="4129087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1A3D2E96-F7FF-60DC-B1C9-718847163D9E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維度三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AI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與 薪資關聯性 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F9F89F78-F2C4-BE27-02F3-7FD130D8E2DA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FC08A25E-8D8C-CA30-AABB-CC11C0394F3B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1734FA45-AB3B-289B-D7CC-47F9FC46F72B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B58601A2-FB60-9678-08D1-BAB2A3B8775E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793424B3-BAE4-497B-F264-5F37F73CAECF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42171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0;p17">
            <a:extLst>
              <a:ext uri="{FF2B5EF4-FFF2-40B4-BE49-F238E27FC236}">
                <a16:creationId xmlns:a16="http://schemas.microsoft.com/office/drawing/2014/main" id="{A6A4D803-1305-554F-7E9A-CABBBD6090EF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18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6720" y="937259"/>
            <a:ext cx="8100060" cy="3558541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0379C7D9-D60D-0ACB-E5C6-6A391678559A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三維結論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時代的職能變遷與因應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D4239A61-8932-9695-DFC7-7ABBEBABBFBE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D62CCAB3-7BB1-47E7-03DD-DD1FC7630365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EDFA9516-6196-DD53-5AB7-6A9C8A655851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972212BA-5107-C126-B606-11F7528F10A7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2D7B1414-2600-DDC9-6FBD-C93BDFC28456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283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0;p17">
            <a:extLst>
              <a:ext uri="{FF2B5EF4-FFF2-40B4-BE49-F238E27FC236}">
                <a16:creationId xmlns:a16="http://schemas.microsoft.com/office/drawing/2014/main" id="{E2E4E929-6930-9E0D-9EF0-80F21740B2D9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19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0"/>
          <p:cNvSpPr/>
          <p:nvPr/>
        </p:nvSpPr>
        <p:spPr>
          <a:xfrm>
            <a:off x="548640" y="125730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3600"/>
              <a:buFont typeface="Georgia"/>
              <a:buNone/>
            </a:pPr>
            <a:r>
              <a:rPr lang="zh-TW" sz="3600" b="1">
                <a:solidFill>
                  <a:srgbClr val="B08D57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1381797" y="1406533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600"/>
              <a:buFont typeface="Georgia"/>
              <a:buNone/>
            </a:pPr>
            <a:r>
              <a:rPr 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從工具導向轉向三層並重</a:t>
            </a:r>
            <a:br>
              <a:rPr lang="en-US" alt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</a:br>
            <a:r>
              <a:rPr lang="zh-TW" i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Beyond Tool-centric Curriculum</a:t>
            </a:r>
            <a:endParaRPr sz="20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4937760" y="1154674"/>
            <a:ext cx="34213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50"/>
              <a:buFont typeface="Calibri"/>
              <a:buNone/>
            </a:pPr>
            <a:r>
              <a:rPr 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應確保 L3 整合能力（需求訪談、跨部門協作、提案）與 L4 判斷能力（品質標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準</a:t>
            </a:r>
            <a:r>
              <a:rPr 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、情境取捨）獲得與 L2 工具技能同等的重視。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時間配比 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L2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的技能可以 著重在高階素養運用與跨流程和使用到可即時自學能力上。</a:t>
            </a:r>
            <a:endParaRPr sz="105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cxnSp>
        <p:nvCxnSpPr>
          <p:cNvPr id="603" name="Google Shape;603;p30"/>
          <p:cNvCxnSpPr>
            <a:cxnSpLocks/>
          </p:cNvCxnSpPr>
          <p:nvPr/>
        </p:nvCxnSpPr>
        <p:spPr>
          <a:xfrm>
            <a:off x="548640" y="2171700"/>
            <a:ext cx="7810500" cy="0"/>
          </a:xfrm>
          <a:prstGeom prst="straightConnector1">
            <a:avLst/>
          </a:prstGeom>
          <a:noFill/>
          <a:ln w="9525" cap="flat" cmpd="sng">
            <a:solidFill>
              <a:srgbClr val="D6D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4" name="Google Shape;604;p30"/>
          <p:cNvSpPr/>
          <p:nvPr/>
        </p:nvSpPr>
        <p:spPr>
          <a:xfrm>
            <a:off x="548640" y="230886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3600"/>
              <a:buFont typeface="Georgia"/>
              <a:buNone/>
            </a:pPr>
            <a:r>
              <a:rPr lang="zh-TW" sz="3600" b="1">
                <a:solidFill>
                  <a:srgbClr val="B08D57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1381797" y="2458093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600"/>
              <a:buFont typeface="Georgia"/>
              <a:buNone/>
            </a:pPr>
            <a:r>
              <a:rPr 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提早接觸「判斷可見化」任務</a:t>
            </a:r>
            <a:br>
              <a:rPr lang="en-US" alt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</a:br>
            <a:r>
              <a:rPr lang="zh-TW" i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Early Exposure to Judgment Tasks</a:t>
            </a:r>
            <a:endParaRPr sz="20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4937760" y="2331201"/>
            <a:ext cx="34213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50"/>
              <a:buFont typeface="Calibri"/>
              <a:buNone/>
            </a:pPr>
            <a:r>
              <a:rPr 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R5.5–R7.0 新興技能爆發說明，組織已要求展現判斷整合能力；若未設計提案比較、AI 輸出診斷、情境適配修正，將面臨養成斷層。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真實運用需要持續使用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,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並保留驗證與</a:t>
            </a:r>
            <a:endParaRPr lang="en-US" altLang="zh-TW" sz="1050" b="1" dirty="0">
              <a:solidFill>
                <a:srgbClr val="54565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50"/>
              <a:buFont typeface="Calibri"/>
              <a:buNone/>
            </a:pP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質疑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,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系統化的工程思惟，確保持續優化質量。</a:t>
            </a:r>
            <a:endParaRPr sz="105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cxnSp>
        <p:nvCxnSpPr>
          <p:cNvPr id="607" name="Google Shape;607;p30"/>
          <p:cNvCxnSpPr>
            <a:cxnSpLocks/>
          </p:cNvCxnSpPr>
          <p:nvPr/>
        </p:nvCxnSpPr>
        <p:spPr>
          <a:xfrm>
            <a:off x="548640" y="3375660"/>
            <a:ext cx="7810500" cy="0"/>
          </a:xfrm>
          <a:prstGeom prst="straightConnector1">
            <a:avLst/>
          </a:prstGeom>
          <a:noFill/>
          <a:ln w="9525" cap="flat" cmpd="sng">
            <a:solidFill>
              <a:srgbClr val="D6D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p30"/>
          <p:cNvSpPr/>
          <p:nvPr/>
        </p:nvSpPr>
        <p:spPr>
          <a:xfrm>
            <a:off x="548640" y="33604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3600"/>
              <a:buFont typeface="Georgia"/>
              <a:buNone/>
            </a:pPr>
            <a:r>
              <a:rPr lang="zh-TW" sz="3600" b="1" dirty="0">
                <a:solidFill>
                  <a:srgbClr val="B08D57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1381797" y="3509653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338"/>
              </a:buClr>
              <a:buSzPts val="1600"/>
              <a:buFont typeface="Georgia"/>
              <a:buNone/>
            </a:pPr>
            <a:r>
              <a:rPr 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成品 ＋ 決策過程並重</a:t>
            </a:r>
            <a:br>
              <a:rPr lang="en-US" altLang="zh-TW" sz="2000" b="1" dirty="0">
                <a:solidFill>
                  <a:srgbClr val="2C33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</a:br>
            <a:r>
              <a:rPr lang="zh-TW" i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Assessment Beyond the Artifact</a:t>
            </a:r>
            <a:endParaRPr sz="20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4937760" y="3436620"/>
            <a:ext cx="34213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50"/>
              <a:buFont typeface="Calibri"/>
              <a:buNone/>
            </a:pPr>
            <a:r>
              <a:rPr 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使「做出作品」與「說明為何這樣做」成為同等重要的學習成果，以真實反映 AI 時代職能結構的需求。</a:t>
            </a:r>
            <a:endParaRPr lang="en-US" altLang="zh-TW" sz="1050" b="1" dirty="0">
              <a:solidFill>
                <a:srgbClr val="54565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50"/>
              <a:buFont typeface="Calibri"/>
              <a:buNone/>
            </a:pP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專案與商業思惟 組織邏輯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.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傳達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.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決策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…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等等 </a:t>
            </a:r>
            <a:r>
              <a:rPr lang="en-US" altLang="zh-TW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.</a:t>
            </a:r>
            <a:r>
              <a:rPr lang="zh-TW" altLang="en-US" sz="1050" b="1" dirty="0">
                <a:solidFill>
                  <a:srgbClr val="54565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會幫助更有效執行你的價值效益 </a:t>
            </a:r>
            <a:endParaRPr sz="1050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14F7BB52-807F-EB7D-5BB6-70B0FFA86CC5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研究反思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美術職涯 面對 </a:t>
            </a:r>
            <a:r>
              <a:rPr lang="en-US" altLang="zh-TW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AI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Georgia"/>
                <a:sym typeface="Georgia"/>
              </a:rPr>
              <a:t> 協作的 三點思考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 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endParaRPr sz="2400" b="1" dirty="0">
              <a:solidFill>
                <a:srgbClr val="B08D5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E7544517-073C-1740-106B-E04C5BC280AF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0564D5C2-AA6D-1596-0499-E36C6F51A1C3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1;p17">
            <a:extLst>
              <a:ext uri="{FF2B5EF4-FFF2-40B4-BE49-F238E27FC236}">
                <a16:creationId xmlns:a16="http://schemas.microsoft.com/office/drawing/2014/main" id="{B66ED29F-A2CD-D476-1D89-88D2B49F8E22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62;p15">
            <a:extLst>
              <a:ext uri="{FF2B5EF4-FFF2-40B4-BE49-F238E27FC236}">
                <a16:creationId xmlns:a16="http://schemas.microsoft.com/office/drawing/2014/main" id="{13C2A66E-1401-7B6A-C965-3B7B9B8C2869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679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10;p17">
            <a:extLst>
              <a:ext uri="{FF2B5EF4-FFF2-40B4-BE49-F238E27FC236}">
                <a16:creationId xmlns:a16="http://schemas.microsoft.com/office/drawing/2014/main" id="{15B6F8C8-EEBF-3BB9-AEA9-5914C14C846D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20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 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8B10-7750-2483-27FF-63DCA28D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7649C0-EC24-6AF0-5A17-712FA561B992}"/>
              </a:ext>
            </a:extLst>
          </p:cNvPr>
          <p:cNvSpPr/>
          <p:nvPr/>
        </p:nvSpPr>
        <p:spPr>
          <a:xfrm>
            <a:off x="0" y="1554480"/>
            <a:ext cx="9144000" cy="1516380"/>
          </a:xfrm>
          <a:prstGeom prst="rect">
            <a:avLst/>
          </a:prstGeom>
          <a:solidFill>
            <a:srgbClr val="B085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CF8D558-BDD7-B128-0141-58FFD56CA570}"/>
              </a:ext>
            </a:extLst>
          </p:cNvPr>
          <p:cNvSpPr txBox="1"/>
          <p:nvPr/>
        </p:nvSpPr>
        <p:spPr>
          <a:xfrm>
            <a:off x="1402080" y="1857732"/>
            <a:ext cx="66522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 與 後續</a:t>
            </a:r>
          </a:p>
        </p:txBody>
      </p:sp>
      <p:sp>
        <p:nvSpPr>
          <p:cNvPr id="3" name="Google Shape;110;p17">
            <a:extLst>
              <a:ext uri="{FF2B5EF4-FFF2-40B4-BE49-F238E27FC236}">
                <a16:creationId xmlns:a16="http://schemas.microsoft.com/office/drawing/2014/main" id="{E1BE1CAB-F24E-43A3-D534-45466D2231A9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21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5023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"/>
          <p:cNvSpPr/>
          <p:nvPr/>
        </p:nvSpPr>
        <p:spPr>
          <a:xfrm>
            <a:off x="960120" y="4572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577900" y="983036"/>
            <a:ext cx="352165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100"/>
              <a:buFont typeface="Calibri"/>
              <a:buNone/>
            </a:pPr>
            <a:r>
              <a:rPr lang="zh-TW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限  制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1"/>
          <p:cNvSpPr/>
          <p:nvPr/>
        </p:nvSpPr>
        <p:spPr>
          <a:xfrm>
            <a:off x="585520" y="120700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1000"/>
              <a:buFont typeface="Calibri"/>
              <a:buNone/>
            </a:pPr>
            <a:r>
              <a:rPr lang="zh-TW" sz="1100" i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31"/>
          <p:cNvCxnSpPr>
            <a:cxnSpLocks/>
          </p:cNvCxnSpPr>
          <p:nvPr/>
        </p:nvCxnSpPr>
        <p:spPr>
          <a:xfrm>
            <a:off x="548640" y="1435608"/>
            <a:ext cx="762499" cy="0"/>
          </a:xfrm>
          <a:prstGeom prst="straightConnector1">
            <a:avLst/>
          </a:prstGeom>
          <a:noFill/>
          <a:ln w="12700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6" name="Google Shape;626;p31"/>
          <p:cNvSpPr/>
          <p:nvPr/>
        </p:nvSpPr>
        <p:spPr>
          <a:xfrm>
            <a:off x="600760" y="1595287"/>
            <a:ext cx="3514039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樣本 n=51 為探索性規模，呈現結構性趨勢，不作統計推論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585520" y="209245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基線樣本來源較分散，存在 JD 撰寫風格差異雜訊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/>
          <p:nvPr/>
        </p:nvSpPr>
        <p:spPr>
          <a:xfrm>
            <a:off x="585520" y="262280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職級推估為近似值，未經企業內部職等資料驗證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593140" y="3173025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薪資揭露率 61.3%，限制相關分析代表性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593140" y="3483807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Pearson 相關不等於因果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31"/>
          <p:cNvCxnSpPr/>
          <p:nvPr/>
        </p:nvCxnSpPr>
        <p:spPr>
          <a:xfrm>
            <a:off x="4274820" y="1609344"/>
            <a:ext cx="0" cy="3108960"/>
          </a:xfrm>
          <a:prstGeom prst="straightConnector1">
            <a:avLst/>
          </a:prstGeom>
          <a:noFill/>
          <a:ln w="9525" cap="flat" cmpd="sng">
            <a:solidFill>
              <a:srgbClr val="D6D2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6" name="Google Shape;636;p31"/>
          <p:cNvSpPr/>
          <p:nvPr/>
        </p:nvSpPr>
        <p:spPr>
          <a:xfrm>
            <a:off x="4572000" y="9601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100"/>
              <a:buFont typeface="Calibri"/>
              <a:buNone/>
            </a:pPr>
            <a:r>
              <a:rPr lang="zh-TW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後  續  研  究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4579620" y="119786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1000"/>
              <a:buFont typeface="Calibri"/>
              <a:buNone/>
            </a:pPr>
            <a:r>
              <a:rPr lang="zh-TW" sz="1100" i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31"/>
          <p:cNvCxnSpPr>
            <a:cxnSpLocks/>
          </p:cNvCxnSpPr>
          <p:nvPr/>
        </p:nvCxnSpPr>
        <p:spPr>
          <a:xfrm>
            <a:off x="4579620" y="1435608"/>
            <a:ext cx="1196340" cy="0"/>
          </a:xfrm>
          <a:prstGeom prst="straightConnector1">
            <a:avLst/>
          </a:prstGeom>
          <a:noFill/>
          <a:ln w="12700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9" name="Google Shape;639;p31"/>
          <p:cNvSpPr/>
          <p:nvPr/>
        </p:nvSpPr>
        <p:spPr>
          <a:xfrm>
            <a:off x="4754880" y="228600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4572000" y="187696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擴大樣本至 200 筆以上，納入 NLP 文字探勘並結合在職工作之運用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4579620" y="2212821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執行設計主管深度訪談 補充因果方向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4754880" y="305409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200"/>
              <a:buFont typeface="Calibri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4579620" y="1541103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AJF 框架方法論深化：（論文二）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4593641" y="2887585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565A"/>
              </a:buClr>
              <a:buSzPts val="1000"/>
              <a:buFont typeface="Calibri"/>
              <a:buNone/>
            </a:pPr>
            <a:r>
              <a:rPr lang="zh-TW" b="1" dirty="0">
                <a:solidFill>
                  <a:srgbClr val="54565A"/>
                </a:solidFill>
                <a:latin typeface="Calibri"/>
                <a:ea typeface="Calibri"/>
                <a:cs typeface="Calibri"/>
                <a:sym typeface="Calibri"/>
              </a:rPr>
              <a:t>代理型 AI 應用：以 R1–R11 × AJF 為基礎，建構美術外包審核之自動化與可迭代系統（論文三）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90956C5C-6EC9-8153-158A-0E9B5FFF1AE1}"/>
              </a:ext>
            </a:extLst>
          </p:cNvPr>
          <p:cNvSpPr/>
          <p:nvPr/>
        </p:nvSpPr>
        <p:spPr>
          <a:xfrm>
            <a:off x="815341" y="300532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本論文研究限制 與 後續研究方向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  </a:t>
            </a:r>
            <a:r>
              <a:rPr lang="zh-TW" altLang="en-US" sz="24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endParaRPr sz="2400" b="1" dirty="0">
              <a:solidFill>
                <a:srgbClr val="B08D5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123A9571-FF61-9F79-FABE-7F08920848A1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1;p17">
            <a:extLst>
              <a:ext uri="{FF2B5EF4-FFF2-40B4-BE49-F238E27FC236}">
                <a16:creationId xmlns:a16="http://schemas.microsoft.com/office/drawing/2014/main" id="{EA1DDFB1-5C71-19A6-22FA-21E668A0B71B}"/>
              </a:ext>
            </a:extLst>
          </p:cNvPr>
          <p:cNvSpPr/>
          <p:nvPr/>
        </p:nvSpPr>
        <p:spPr>
          <a:xfrm>
            <a:off x="857704" y="120701"/>
            <a:ext cx="12682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限制 與 後續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90;p17">
            <a:extLst>
              <a:ext uri="{FF2B5EF4-FFF2-40B4-BE49-F238E27FC236}">
                <a16:creationId xmlns:a16="http://schemas.microsoft.com/office/drawing/2014/main" id="{6E478BE2-9906-11C8-B8CE-F5933A9992E0}"/>
              </a:ext>
            </a:extLst>
          </p:cNvPr>
          <p:cNvSpPr/>
          <p:nvPr/>
        </p:nvSpPr>
        <p:spPr>
          <a:xfrm>
            <a:off x="722680" y="11963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1C4BF347-D662-8E4B-B742-DD25CFE92ADA}"/>
              </a:ext>
            </a:extLst>
          </p:cNvPr>
          <p:cNvSpPr/>
          <p:nvPr/>
        </p:nvSpPr>
        <p:spPr>
          <a:xfrm>
            <a:off x="4358640" y="1632204"/>
            <a:ext cx="129536" cy="15087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8705D6A7-8516-B141-7DD2-7A3D8839F16E}"/>
              </a:ext>
            </a:extLst>
          </p:cNvPr>
          <p:cNvSpPr/>
          <p:nvPr/>
        </p:nvSpPr>
        <p:spPr>
          <a:xfrm>
            <a:off x="4372661" y="2884173"/>
            <a:ext cx="129536" cy="150876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8CBD0-B337-7988-7556-A640CC338FE7}"/>
              </a:ext>
            </a:extLst>
          </p:cNvPr>
          <p:cNvSpPr/>
          <p:nvPr/>
        </p:nvSpPr>
        <p:spPr>
          <a:xfrm>
            <a:off x="419100" y="1632204"/>
            <a:ext cx="135137" cy="1222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4BF69D0-6A1C-12B8-8647-7D29396A8622}"/>
              </a:ext>
            </a:extLst>
          </p:cNvPr>
          <p:cNvSpPr/>
          <p:nvPr/>
        </p:nvSpPr>
        <p:spPr>
          <a:xfrm>
            <a:off x="411673" y="2122253"/>
            <a:ext cx="135137" cy="1222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1E9299-B26E-9E0E-AB0D-D7C55EABAE05}"/>
              </a:ext>
            </a:extLst>
          </p:cNvPr>
          <p:cNvSpPr/>
          <p:nvPr/>
        </p:nvSpPr>
        <p:spPr>
          <a:xfrm>
            <a:off x="411673" y="2652945"/>
            <a:ext cx="135137" cy="1222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7157C5-FC6A-CE40-9690-438E1F01B95D}"/>
              </a:ext>
            </a:extLst>
          </p:cNvPr>
          <p:cNvSpPr/>
          <p:nvPr/>
        </p:nvSpPr>
        <p:spPr>
          <a:xfrm>
            <a:off x="426720" y="3202683"/>
            <a:ext cx="135137" cy="1222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D9D3D-86B7-31F2-1898-476CBC89244E}"/>
              </a:ext>
            </a:extLst>
          </p:cNvPr>
          <p:cNvSpPr/>
          <p:nvPr/>
        </p:nvSpPr>
        <p:spPr>
          <a:xfrm>
            <a:off x="419293" y="3529244"/>
            <a:ext cx="135137" cy="12225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Google Shape;62;p15">
            <a:extLst>
              <a:ext uri="{FF2B5EF4-FFF2-40B4-BE49-F238E27FC236}">
                <a16:creationId xmlns:a16="http://schemas.microsoft.com/office/drawing/2014/main" id="{C48D9B43-19D7-4163-873C-505253AF58FF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54339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110;p17">
            <a:extLst>
              <a:ext uri="{FF2B5EF4-FFF2-40B4-BE49-F238E27FC236}">
                <a16:creationId xmlns:a16="http://schemas.microsoft.com/office/drawing/2014/main" id="{0FE4B723-DD5D-5E16-AF39-119F0D96744F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22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338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9600"/>
              <a:buFont typeface="Georgia"/>
              <a:buNone/>
            </a:pPr>
            <a:r>
              <a:rPr lang="zh-TW" sz="9600" b="1">
                <a:solidFill>
                  <a:srgbClr val="B08D57"/>
                </a:solidFill>
                <a:latin typeface="Georgia"/>
                <a:ea typeface="Georgia"/>
                <a:cs typeface="Georgia"/>
                <a:sym typeface="Georgia"/>
              </a:rPr>
              <a:t>Q  &amp;  A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2000"/>
              <a:buFont typeface="Georgia"/>
              <a:buNone/>
            </a:pPr>
            <a:r>
              <a:rPr lang="zh-TW" sz="2000" i="1">
                <a:solidFill>
                  <a:srgbClr val="F2F0E9"/>
                </a:solidFill>
                <a:latin typeface="Georgia"/>
                <a:ea typeface="Georgia"/>
                <a:cs typeface="Georgia"/>
                <a:sym typeface="Georgia"/>
              </a:rPr>
              <a:t>歡迎指教與討論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32"/>
          <p:cNvCxnSpPr/>
          <p:nvPr/>
        </p:nvCxnSpPr>
        <p:spPr>
          <a:xfrm>
            <a:off x="3657600" y="3246120"/>
            <a:ext cx="1828800" cy="0"/>
          </a:xfrm>
          <a:prstGeom prst="straightConnector1">
            <a:avLst/>
          </a:prstGeom>
          <a:noFill/>
          <a:ln w="12700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9" name="Google Shape;659;p3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AFAF7"/>
              </a:buClr>
              <a:buSzPts val="1400"/>
              <a:buFont typeface="Calibri"/>
              <a:buNone/>
            </a:pPr>
            <a:r>
              <a:rPr lang="zh-TW" sz="1400" b="1">
                <a:solidFill>
                  <a:srgbClr val="FAFAF7"/>
                </a:solidFill>
                <a:latin typeface="Calibri"/>
                <a:ea typeface="Calibri"/>
                <a:cs typeface="Calibri"/>
                <a:sym typeface="Calibri"/>
              </a:rPr>
              <a:t>李世彬 (Shih-Pin Lee)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C29A"/>
              </a:buClr>
              <a:buSzPts val="1100"/>
              <a:buFont typeface="Calibri"/>
              <a:buNone/>
            </a:pPr>
            <a:r>
              <a:rPr lang="zh-TW" sz="1100">
                <a:solidFill>
                  <a:srgbClr val="D9C29A"/>
                </a:solidFill>
                <a:latin typeface="Calibri"/>
                <a:ea typeface="Calibri"/>
                <a:cs typeface="Calibri"/>
                <a:sym typeface="Calibri"/>
              </a:rPr>
              <a:t>benarcell@gmail.com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1000"/>
              <a:buFont typeface="Calibri"/>
              <a:buNone/>
            </a:pPr>
            <a:r>
              <a:rPr lang="zh-TW" sz="1000">
                <a:solidFill>
                  <a:srgbClr val="F2F0E9"/>
                </a:solidFill>
                <a:latin typeface="Calibri"/>
                <a:ea typeface="Calibri"/>
                <a:cs typeface="Calibri"/>
                <a:sym typeface="Calibri"/>
              </a:rPr>
              <a:t>佐證資料：</a:t>
            </a:r>
            <a:r>
              <a:rPr lang="zh-TW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doi.org/10.5281/zenodo.20444031 · v2 (2026/06/08)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457200" y="452266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F0E9"/>
              </a:buClr>
              <a:buSzPts val="1000"/>
              <a:buFont typeface="Calibri"/>
              <a:buNone/>
            </a:pPr>
            <a:r>
              <a:rPr lang="zh-TW" sz="1000">
                <a:solidFill>
                  <a:srgbClr val="F2F0E9"/>
                </a:solidFill>
                <a:latin typeface="Calibri"/>
                <a:ea typeface="Calibri"/>
                <a:cs typeface="Calibri"/>
                <a:sym typeface="Calibri"/>
              </a:rPr>
              <a:t>原始碼：</a:t>
            </a:r>
            <a:r>
              <a:rPr lang="zh-TW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github.com/shinpin/Talent-jd-dataset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93DB1AC-BFB5-5B94-1C8A-B75360032800}"/>
              </a:ext>
            </a:extLst>
          </p:cNvPr>
          <p:cNvSpPr txBox="1"/>
          <p:nvPr/>
        </p:nvSpPr>
        <p:spPr>
          <a:xfrm>
            <a:off x="1967789" y="571500"/>
            <a:ext cx="5208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solidFill>
                  <a:srgbClr val="B08D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~Thank~</a:t>
            </a:r>
            <a:endParaRPr lang="zh-TW" altLang="en-US" sz="4000" b="1" dirty="0">
              <a:solidFill>
                <a:srgbClr val="B08D5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Google Shape;110;p17">
            <a:extLst>
              <a:ext uri="{FF2B5EF4-FFF2-40B4-BE49-F238E27FC236}">
                <a16:creationId xmlns:a16="http://schemas.microsoft.com/office/drawing/2014/main" id="{B409B1DE-329A-CBB1-6753-70F7F0E608BC}"/>
              </a:ext>
            </a:extLst>
          </p:cNvPr>
          <p:cNvSpPr/>
          <p:nvPr/>
        </p:nvSpPr>
        <p:spPr>
          <a:xfrm>
            <a:off x="8604001" y="4831200"/>
            <a:ext cx="388797" cy="2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 </a:t>
            </a:r>
            <a:r>
              <a:rPr 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/</a:t>
            </a:r>
            <a:r>
              <a:rPr lang="en-US" altLang="zh-TW" sz="900" dirty="0">
                <a:solidFill>
                  <a:srgbClr val="787A7F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23</a:t>
            </a:r>
            <a:endParaRPr sz="900" dirty="0">
              <a:solidFill>
                <a:schemeClr val="dk1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3000" contras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356" y="838561"/>
            <a:ext cx="7432244" cy="3813775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0676CF65-9579-E14F-8E65-3CA4A3996455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延伸探討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 n=82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跨職能描述  產生通用現象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(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附錄一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)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4461C1E5-C4BC-46C2-A670-113F4A97D7CE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DDA39C4E-8C13-59A4-5234-6AD2534DE22A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77595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89;p17">
            <a:extLst>
              <a:ext uri="{FF2B5EF4-FFF2-40B4-BE49-F238E27FC236}">
                <a16:creationId xmlns:a16="http://schemas.microsoft.com/office/drawing/2014/main" id="{442643AB-7166-8ED5-8165-C52D37A07AB1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0;p17">
            <a:extLst>
              <a:ext uri="{FF2B5EF4-FFF2-40B4-BE49-F238E27FC236}">
                <a16:creationId xmlns:a16="http://schemas.microsoft.com/office/drawing/2014/main" id="{5C42F08F-098E-2250-5A1D-0A0FF8F56B9F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1;p17">
            <a:extLst>
              <a:ext uri="{FF2B5EF4-FFF2-40B4-BE49-F238E27FC236}">
                <a16:creationId xmlns:a16="http://schemas.microsoft.com/office/drawing/2014/main" id="{D3DEE003-1372-3BB1-7B41-9BFF8B9991F2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 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4679DC8-F44C-7024-C5B9-36B32CD892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5780" y="944880"/>
            <a:ext cx="7784783" cy="3733800"/>
          </a:xfrm>
          <a:prstGeom prst="rect">
            <a:avLst/>
          </a:prstGeom>
        </p:spPr>
      </p:pic>
      <p:sp>
        <p:nvSpPr>
          <p:cNvPr id="5" name="Google Shape;396;p25">
            <a:extLst>
              <a:ext uri="{FF2B5EF4-FFF2-40B4-BE49-F238E27FC236}">
                <a16:creationId xmlns:a16="http://schemas.microsoft.com/office/drawing/2014/main" id="{F9C939DC-A6F4-A547-BB15-A64240E63C79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質化延伸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實務原型與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模擬，職能轉移現象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附錄二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EBCD04A9-301E-3029-68AE-F9C550D3A201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62;p15">
            <a:extLst>
              <a:ext uri="{FF2B5EF4-FFF2-40B4-BE49-F238E27FC236}">
                <a16:creationId xmlns:a16="http://schemas.microsoft.com/office/drawing/2014/main" id="{BC6102B7-2096-6AE2-9D5A-A37037C1E182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81627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61DD21A9-682F-3813-F042-38158C01D428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0;p17">
            <a:extLst>
              <a:ext uri="{FF2B5EF4-FFF2-40B4-BE49-F238E27FC236}">
                <a16:creationId xmlns:a16="http://schemas.microsoft.com/office/drawing/2014/main" id="{546FA396-CFDA-CAFE-975A-1EB4DA3D7219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1;p17">
            <a:extLst>
              <a:ext uri="{FF2B5EF4-FFF2-40B4-BE49-F238E27FC236}">
                <a16:creationId xmlns:a16="http://schemas.microsoft.com/office/drawing/2014/main" id="{BF8CE469-1EB7-DDCA-6F4C-9D4D38598314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 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1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48753"/>
            <a:ext cx="9144000" cy="4129087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9E5332E7-B273-B073-D5FF-8443211495D1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業界橋接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R1-R1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美術職級描述 框架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CD288CF5-2BB2-B720-4A6E-71D635F974D9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DB7ACE6B-E5F1-5ABA-8E13-AFD8FE005646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82E5E9AD-B3C1-6D72-AC9A-E0880A171305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 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764C4937-FADF-1EF9-BCF6-F14F4632CF87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37550F92-C29E-0449-D7C0-95F682A15AA4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56427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1E533615-A5C9-64D2-6A4C-80A9D32D2C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7000" contras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787101"/>
            <a:ext cx="7993380" cy="4076999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271C20B1-3386-9B41-D455-D7E81D25B4B8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後續研究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建構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AJF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研究探討 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5DDABD44-CDFA-9F46-C01F-96E1DB72E03F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12AE134F-44E7-297F-1756-1F28754400BE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FB259F15-5B15-F347-C0F9-029591AF3276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B08D57"/>
              </a:buClr>
              <a:buSzPts val="1000"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</a:t>
            </a:r>
            <a:endParaRPr lang="zh-TW" altLang="en-US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004665-1B9B-55FF-1C1F-C12EE56D32F0}"/>
              </a:ext>
            </a:extLst>
          </p:cNvPr>
          <p:cNvSpPr txBox="1"/>
          <p:nvPr/>
        </p:nvSpPr>
        <p:spPr>
          <a:xfrm>
            <a:off x="507226" y="708509"/>
            <a:ext cx="6026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b="1" dirty="0">
                <a:solidFill>
                  <a:srgbClr val="B0852D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感知覺醒－判斷結構化－職能重定位，</a:t>
            </a:r>
            <a:r>
              <a:rPr lang="en-US" altLang="zh-TW" sz="1050" b="1" dirty="0">
                <a:solidFill>
                  <a:srgbClr val="B0852D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Awareness-Judgment–Functional Repositioning</a:t>
            </a:r>
            <a:r>
              <a:rPr lang="zh-TW" altLang="zh-TW" sz="1050" b="1" dirty="0">
                <a:solidFill>
                  <a:srgbClr val="B0852D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標楷體" panose="03000509000000000000" pitchFamily="65" charset="-120"/>
              </a:rPr>
              <a:t>框架</a:t>
            </a:r>
            <a:endParaRPr lang="zh-TW" altLang="en-US" sz="105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D0273EA9-1EE7-A720-3033-928C05C9E45F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62;p15">
            <a:extLst>
              <a:ext uri="{FF2B5EF4-FFF2-40B4-BE49-F238E27FC236}">
                <a16:creationId xmlns:a16="http://schemas.microsoft.com/office/drawing/2014/main" id="{F93F2F67-F6AE-3F84-DBA5-A8DA60C36049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79323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7900" y="891803"/>
            <a:ext cx="7687389" cy="3793488"/>
          </a:xfrm>
          <a:prstGeom prst="rect">
            <a:avLst/>
          </a:prstGeom>
        </p:spPr>
      </p:pic>
      <p:sp>
        <p:nvSpPr>
          <p:cNvPr id="3" name="Google Shape;396;p25">
            <a:extLst>
              <a:ext uri="{FF2B5EF4-FFF2-40B4-BE49-F238E27FC236}">
                <a16:creationId xmlns:a16="http://schemas.microsoft.com/office/drawing/2014/main" id="{F7FC658B-44B0-8BB4-ED9A-FAD5651C01B1}"/>
              </a:ext>
            </a:extLst>
          </p:cNvPr>
          <p:cNvSpPr/>
          <p:nvPr/>
        </p:nvSpPr>
        <p:spPr>
          <a:xfrm>
            <a:off x="536889" y="320153"/>
            <a:ext cx="74322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建構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AJF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與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R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職級框架對照表 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4" name="Google Shape;89;p17">
            <a:extLst>
              <a:ext uri="{FF2B5EF4-FFF2-40B4-BE49-F238E27FC236}">
                <a16:creationId xmlns:a16="http://schemas.microsoft.com/office/drawing/2014/main" id="{0179D2B7-55B4-3801-CF3D-972850C37BE2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7">
            <a:extLst>
              <a:ext uri="{FF2B5EF4-FFF2-40B4-BE49-F238E27FC236}">
                <a16:creationId xmlns:a16="http://schemas.microsoft.com/office/drawing/2014/main" id="{CA9EBE29-7B3E-F943-9612-E259DBED41EF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1;p17">
            <a:extLst>
              <a:ext uri="{FF2B5EF4-FFF2-40B4-BE49-F238E27FC236}">
                <a16:creationId xmlns:a16="http://schemas.microsoft.com/office/drawing/2014/main" id="{CBB4F6DD-B29B-E9FC-9C4E-0802B60D914E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B08D57"/>
              </a:buClr>
              <a:buSzPts val="1000"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649;p31">
            <a:extLst>
              <a:ext uri="{FF2B5EF4-FFF2-40B4-BE49-F238E27FC236}">
                <a16:creationId xmlns:a16="http://schemas.microsoft.com/office/drawing/2014/main" id="{56F4C759-1B95-76F7-51E5-0BF12040375B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62;p15">
            <a:extLst>
              <a:ext uri="{FF2B5EF4-FFF2-40B4-BE49-F238E27FC236}">
                <a16:creationId xmlns:a16="http://schemas.microsoft.com/office/drawing/2014/main" id="{B0261A5F-3F91-AC82-171E-D0DEFEDEFB12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2619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196977E-F555-73F3-1FCC-D98BBD43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5;g3ee9230b3cd_0_0">
            <a:hlinkClick r:id="rId3"/>
            <a:extLst>
              <a:ext uri="{FF2B5EF4-FFF2-40B4-BE49-F238E27FC236}">
                <a16:creationId xmlns:a16="http://schemas.microsoft.com/office/drawing/2014/main" id="{959869D5-94DE-0984-BF9A-E131767008C3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8088" y="1390712"/>
            <a:ext cx="3941999" cy="3392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480E4749-7D0B-3A86-9DA4-4179FFAAF844}"/>
              </a:ext>
            </a:extLst>
          </p:cNvPr>
          <p:cNvGrpSpPr/>
          <p:nvPr/>
        </p:nvGrpSpPr>
        <p:grpSpPr>
          <a:xfrm>
            <a:off x="4648202" y="495300"/>
            <a:ext cx="3811586" cy="3246120"/>
            <a:chOff x="4764674" y="426720"/>
            <a:chExt cx="3990052" cy="3246120"/>
          </a:xfrm>
        </p:grpSpPr>
        <p:pic>
          <p:nvPicPr>
            <p:cNvPr id="4" name="圖片 3" descr="The document discusses the shifts in job demand for UX/UI designers, with a significant decline in job openings and a shift towards roles that combine UX/UI design with product management and data-driven strategies. AI tools like Figma AI and ChatGPT are becoming increasingly important for creating wireframes and design documents.&#10;&#10;AI 產生的內容可能不正確。">
              <a:hlinkClick r:id="rId3"/>
              <a:extLst>
                <a:ext uri="{FF2B5EF4-FFF2-40B4-BE49-F238E27FC236}">
                  <a16:creationId xmlns:a16="http://schemas.microsoft.com/office/drawing/2014/main" id="{6FB63EA9-BD2D-36D5-EBB5-4D49EFFDD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95676" y="426720"/>
              <a:ext cx="3959050" cy="3246120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B0AAA4D-568C-4FA3-D819-12DC27C98D70}"/>
                </a:ext>
              </a:extLst>
            </p:cNvPr>
            <p:cNvSpPr/>
            <p:nvPr/>
          </p:nvSpPr>
          <p:spPr>
            <a:xfrm>
              <a:off x="4764674" y="436268"/>
              <a:ext cx="202347" cy="27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31C13E53-13CE-07D7-ACBD-38F4F2C2E4F8}"/>
              </a:ext>
            </a:extLst>
          </p:cNvPr>
          <p:cNvGrpSpPr/>
          <p:nvPr/>
        </p:nvGrpSpPr>
        <p:grpSpPr>
          <a:xfrm>
            <a:off x="4495800" y="3974250"/>
            <a:ext cx="3317018" cy="897470"/>
            <a:chOff x="4495800" y="3845421"/>
            <a:chExt cx="3317018" cy="897470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86D9F854-A204-7499-E9CD-4AE6A42D79B4}"/>
                </a:ext>
              </a:extLst>
            </p:cNvPr>
            <p:cNvSpPr txBox="1"/>
            <p:nvPr/>
          </p:nvSpPr>
          <p:spPr>
            <a:xfrm>
              <a:off x="4597787" y="3845421"/>
              <a:ext cx="148498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zh-TW" sz="1200" b="1" dirty="0">
                  <a:latin typeface="+mj-lt"/>
                </a:rPr>
                <a:t>IndeedDesign</a:t>
              </a:r>
              <a:r>
                <a:rPr lang="zh-TW" altLang="en-US" sz="1200" b="1" dirty="0">
                  <a:latin typeface="+mj-lt"/>
                </a:rPr>
                <a:t> </a:t>
              </a:r>
              <a:endParaRPr lang="zh-TW" altLang="en-US" sz="1200" dirty="0">
                <a:latin typeface="+mj-lt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A6E6DC3-1BEF-3F21-A228-352224DFF081}"/>
                </a:ext>
              </a:extLst>
            </p:cNvPr>
            <p:cNvSpPr txBox="1"/>
            <p:nvPr/>
          </p:nvSpPr>
          <p:spPr>
            <a:xfrm>
              <a:off x="4597787" y="4081620"/>
              <a:ext cx="3215031" cy="661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zh-TW" altLang="zh-TW" sz="800" b="1" i="0" u="none" strike="noStrike" dirty="0">
                  <a:solidFill>
                    <a:srgbClr val="2D2D2D"/>
                  </a:solidFill>
                  <a:effectLst/>
                  <a:latin typeface="Arial" panose="020B0604020202020204" pitchFamily="34" charset="0"/>
                </a:rPr>
                <a:t>UX Job Listings Plunged in 2023</a:t>
              </a:r>
            </a:p>
            <a:p>
              <a:pPr algn="l">
                <a:buNone/>
              </a:pPr>
              <a:r>
                <a:rPr lang="zh-TW" altLang="zh-TW" sz="800" b="0" i="0" dirty="0">
                  <a:solidFill>
                    <a:srgbClr val="595959"/>
                  </a:solidFill>
                  <a:effectLst/>
                  <a:latin typeface="Arial" panose="020B0604020202020204" pitchFamily="34" charset="0"/>
                </a:rPr>
                <a:t>Open roles across UX disciplines are harder to find, and the rest of the tech industry faces similar opportunity dips.</a:t>
              </a:r>
            </a:p>
            <a:p>
              <a:pPr algn="l">
                <a:lnSpc>
                  <a:spcPts val="1800"/>
                </a:lnSpc>
                <a:buNone/>
              </a:pPr>
              <a:r>
                <a:rPr lang="zh-TW" altLang="zh-TW" sz="800" b="1" i="0" dirty="0">
                  <a:solidFill>
                    <a:srgbClr val="595959"/>
                  </a:solidFill>
                  <a:effectLst/>
                  <a:latin typeface="Arial" panose="020B0604020202020204" pitchFamily="34" charset="0"/>
                </a:rPr>
                <a:t>Author </a:t>
              </a:r>
              <a:r>
                <a:rPr lang="zh-TW" altLang="zh-TW" sz="800" b="0" i="0" u="none" strike="noStrike" dirty="0">
                  <a:solidFill>
                    <a:srgbClr val="004FCB"/>
                  </a:solidFill>
                  <a:effectLst/>
                  <a:latin typeface="Arial" panose="020B0604020202020204" pitchFamily="34" charset="0"/>
                  <a:hlinkClick r:id="rId6"/>
                </a:rPr>
                <a:t>Kathryn Brookshier</a:t>
              </a:r>
              <a:r>
                <a:rPr lang="zh-TW" altLang="en-US" sz="800" b="0" i="0" u="none" strike="noStrike" dirty="0">
                  <a:solidFill>
                    <a:srgbClr val="004FCB"/>
                  </a:solidFill>
                  <a:effectLst/>
                  <a:latin typeface="Arial" panose="020B0604020202020204" pitchFamily="34" charset="0"/>
                </a:rPr>
                <a:t>   </a:t>
              </a:r>
              <a:r>
                <a:rPr lang="zh-TW" altLang="zh-TW" sz="800" b="0" i="0" dirty="0">
                  <a:solidFill>
                    <a:srgbClr val="595959"/>
                  </a:solidFill>
                  <a:effectLst/>
                  <a:latin typeface="Arial" panose="020B0604020202020204" pitchFamily="34" charset="0"/>
                </a:rPr>
                <a:t>ugust 2023</a:t>
              </a:r>
              <a:r>
                <a:rPr lang="zh-TW" altLang="en-US" sz="800" b="0" i="0" dirty="0">
                  <a:solidFill>
                    <a:srgbClr val="595959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zh-TW" altLang="zh-TW" sz="800" b="1" i="0" dirty="0">
                  <a:solidFill>
                    <a:srgbClr val="B4602B"/>
                  </a:solidFill>
                  <a:effectLst/>
                  <a:latin typeface="Arial" panose="020B0604020202020204" pitchFamily="34" charset="0"/>
                </a:rPr>
                <a:t>Career</a:t>
              </a:r>
              <a:endParaRPr lang="zh-TW" altLang="zh-TW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5" name="流程圖: 抽選 14">
              <a:extLst>
                <a:ext uri="{FF2B5EF4-FFF2-40B4-BE49-F238E27FC236}">
                  <a16:creationId xmlns:a16="http://schemas.microsoft.com/office/drawing/2014/main" id="{8712DF47-F157-D27A-9F1B-C072464576F6}"/>
                </a:ext>
              </a:extLst>
            </p:cNvPr>
            <p:cNvSpPr/>
            <p:nvPr/>
          </p:nvSpPr>
          <p:spPr>
            <a:xfrm rot="16200000">
              <a:off x="4477390" y="3950268"/>
              <a:ext cx="134522" cy="97702"/>
            </a:xfrm>
            <a:prstGeom prst="flowChartExtra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446574-A550-25B9-5E63-5C36F863699D}"/>
              </a:ext>
            </a:extLst>
          </p:cNvPr>
          <p:cNvSpPr txBox="1"/>
          <p:nvPr/>
        </p:nvSpPr>
        <p:spPr>
          <a:xfrm>
            <a:off x="471600" y="773272"/>
            <a:ext cx="39419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b="1" dirty="0">
                <a:solidFill>
                  <a:schemeClr val="tx1"/>
                </a:solidFill>
              </a:rPr>
              <a:t>UX Job Listings Plunged in 2023</a:t>
            </a:r>
            <a:br>
              <a:rPr lang="zh-TW" altLang="zh-TW" sz="1200" b="1" dirty="0">
                <a:solidFill>
                  <a:schemeClr val="tx1"/>
                </a:solidFill>
              </a:rPr>
            </a:br>
            <a:r>
              <a:rPr lang="zh-TW" altLang="zh-TW" sz="1000" dirty="0">
                <a:solidFill>
                  <a:schemeClr val="tx1"/>
                </a:solidFill>
              </a:rPr>
              <a:t>在用戶體驗相關的領域中，很難找到空缺的職位。</a:t>
            </a:r>
            <a:endParaRPr lang="en-US" altLang="zh-TW" sz="1000" dirty="0">
              <a:solidFill>
                <a:schemeClr val="tx1"/>
              </a:solidFill>
            </a:endParaRPr>
          </a:p>
          <a:p>
            <a:r>
              <a:rPr lang="zh-TW" altLang="zh-TW" sz="1000" dirty="0">
                <a:solidFill>
                  <a:schemeClr val="tx1"/>
                </a:solidFill>
              </a:rPr>
              <a:t>至於科技產業的其他領域，也面臨著類似的就業機會減少的問題。</a:t>
            </a:r>
          </a:p>
          <a:p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DFFD73B-6C83-DB27-1BC0-3781FFC3F1D7}"/>
              </a:ext>
            </a:extLst>
          </p:cNvPr>
          <p:cNvSpPr txBox="1"/>
          <p:nvPr/>
        </p:nvSpPr>
        <p:spPr>
          <a:xfrm>
            <a:off x="5652395" y="3997291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dirty="0"/>
              <a:t>(</a:t>
            </a:r>
            <a:r>
              <a:rPr lang="zh-TW" altLang="zh-TW" sz="900" dirty="0"/>
              <a:t>全球知名的求職與招聘搜尋引擎平台</a:t>
            </a:r>
            <a:r>
              <a:rPr lang="en-US" altLang="zh-TW" sz="900" dirty="0"/>
              <a:t>)</a:t>
            </a:r>
            <a:endParaRPr lang="zh-TW" altLang="en-US" sz="900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E7AC37AF-1369-4B46-24A7-5BF489F4E3A3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24" name="箭號: 五邊形 23">
              <a:extLst>
                <a:ext uri="{FF2B5EF4-FFF2-40B4-BE49-F238E27FC236}">
                  <a16:creationId xmlns:a16="http://schemas.microsoft.com/office/drawing/2014/main" id="{CB05D4CF-97C9-FB47-1180-A5114E3E488E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JD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 描述變化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5A39F68-4979-F0BE-8C17-2B4F10B54EA4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6" name="Google Shape;649;p31">
            <a:extLst>
              <a:ext uri="{FF2B5EF4-FFF2-40B4-BE49-F238E27FC236}">
                <a16:creationId xmlns:a16="http://schemas.microsoft.com/office/drawing/2014/main" id="{CD4FE412-8194-67A9-54B2-0BEA499017D4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96;p25">
            <a:extLst>
              <a:ext uri="{FF2B5EF4-FFF2-40B4-BE49-F238E27FC236}">
                <a16:creationId xmlns:a16="http://schemas.microsoft.com/office/drawing/2014/main" id="{13351111-5482-E2FF-0264-4999D6593D1F}"/>
              </a:ext>
            </a:extLst>
          </p:cNvPr>
          <p:cNvSpPr/>
          <p:nvPr/>
        </p:nvSpPr>
        <p:spPr>
          <a:xfrm>
            <a:off x="806500" y="277165"/>
            <a:ext cx="43046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en-US" altLang="zh-TW" sz="18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TW" altLang="en-US" sz="18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知名求職網報告</a:t>
            </a:r>
            <a:endParaRPr sz="18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cxnSp>
        <p:nvCxnSpPr>
          <p:cNvPr id="12" name="Google Shape;62;p15">
            <a:extLst>
              <a:ext uri="{FF2B5EF4-FFF2-40B4-BE49-F238E27FC236}">
                <a16:creationId xmlns:a16="http://schemas.microsoft.com/office/drawing/2014/main" id="{0E11ABE5-C964-47E9-E6AA-9938F192871A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36699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6416B73E-0C99-5B5D-3444-E7B09DA326AA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0;p17">
            <a:extLst>
              <a:ext uri="{FF2B5EF4-FFF2-40B4-BE49-F238E27FC236}">
                <a16:creationId xmlns:a16="http://schemas.microsoft.com/office/drawing/2014/main" id="{596D0AE6-59B8-4B71-C3F6-1A8861F4238E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91;p17">
            <a:extLst>
              <a:ext uri="{FF2B5EF4-FFF2-40B4-BE49-F238E27FC236}">
                <a16:creationId xmlns:a16="http://schemas.microsoft.com/office/drawing/2014/main" id="{9C8110C8-CE14-A364-E3CF-53053B22096D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附 錄 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4840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>
            <a:extLst>
              <a:ext uri="{FF2B5EF4-FFF2-40B4-BE49-F238E27FC236}">
                <a16:creationId xmlns:a16="http://schemas.microsoft.com/office/drawing/2014/main" id="{11CA98BE-CE0E-578D-AF84-23A6420101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516" y="2651720"/>
            <a:ext cx="4259983" cy="2397514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4CF62B9-11E2-E298-87B9-D04CFBF263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508" y="2862417"/>
            <a:ext cx="3807044" cy="2142601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A7E9AEA0-9B6F-CCB2-9703-347F8D65829B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10" name="箭號: 五邊形 9">
              <a:extLst>
                <a:ext uri="{FF2B5EF4-FFF2-40B4-BE49-F238E27FC236}">
                  <a16:creationId xmlns:a16="http://schemas.microsoft.com/office/drawing/2014/main" id="{36C84BF9-8422-0929-9868-7549AA6EECE0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二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技能</a:t>
              </a:r>
              <a:r>
                <a:rPr lang="en-US" altLang="zh-TW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+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流程變化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C3BA56A-C559-CD9E-8FCA-1CDBDE2F16D0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C2D151-79BD-DDD2-8B99-61963509B4EC}"/>
              </a:ext>
            </a:extLst>
          </p:cNvPr>
          <p:cNvSpPr txBox="1"/>
          <p:nvPr/>
        </p:nvSpPr>
        <p:spPr>
          <a:xfrm>
            <a:off x="5091931" y="2679562"/>
            <a:ext cx="3376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/>
              <a:t>中階技術美術 工作描述 </a:t>
            </a:r>
            <a:r>
              <a:rPr lang="en-US" altLang="zh-TW" sz="1200" b="1" dirty="0"/>
              <a:t>(2014-2024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unity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 ..)</a:t>
            </a:r>
            <a:endParaRPr lang="zh-TW" altLang="en-US" sz="11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1EE06CD-F10D-B729-5A9F-23A1F5E91018}"/>
              </a:ext>
            </a:extLst>
          </p:cNvPr>
          <p:cNvSpPr txBox="1"/>
          <p:nvPr/>
        </p:nvSpPr>
        <p:spPr>
          <a:xfrm>
            <a:off x="503487" y="157341"/>
            <a:ext cx="4068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/>
              <a:t> </a:t>
            </a:r>
            <a:r>
              <a:rPr lang="en-US" altLang="zh-TW" sz="1200" b="1" dirty="0"/>
              <a:t>3A</a:t>
            </a:r>
            <a:r>
              <a:rPr lang="zh-TW" altLang="en-US" sz="1200" b="1" dirty="0"/>
              <a:t>遊戲 角色流程 </a:t>
            </a:r>
            <a:r>
              <a:rPr lang="en-US" altLang="zh-TW" sz="1200" b="1" dirty="0"/>
              <a:t>(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2010</a:t>
            </a:r>
            <a:r>
              <a:rPr lang="zh-TW" altLang="en-US" sz="1200" b="1" dirty="0"/>
              <a:t> 更早 </a:t>
            </a:r>
            <a:r>
              <a:rPr lang="en-US" altLang="zh-TW" sz="1200" b="1" dirty="0"/>
              <a:t>~</a:t>
            </a:r>
            <a:r>
              <a:rPr lang="zh-TW" altLang="en-US" sz="1200" b="1" dirty="0"/>
              <a:t> 迄今 </a:t>
            </a:r>
            <a:r>
              <a:rPr lang="en-US" altLang="zh-TW" sz="1200" b="1" dirty="0"/>
              <a:t>)</a:t>
            </a:r>
            <a:endParaRPr lang="zh-TW" altLang="en-US" sz="1100" dirty="0"/>
          </a:p>
        </p:txBody>
      </p:sp>
      <p:sp>
        <p:nvSpPr>
          <p:cNvPr id="15" name="流程圖: 抽選 14">
            <a:extLst>
              <a:ext uri="{FF2B5EF4-FFF2-40B4-BE49-F238E27FC236}">
                <a16:creationId xmlns:a16="http://schemas.microsoft.com/office/drawing/2014/main" id="{D51DD086-95DF-42C9-FA53-4F24F4006573}"/>
              </a:ext>
            </a:extLst>
          </p:cNvPr>
          <p:cNvSpPr/>
          <p:nvPr/>
        </p:nvSpPr>
        <p:spPr>
          <a:xfrm flipV="1">
            <a:off x="324539" y="252551"/>
            <a:ext cx="167640" cy="118531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抽選 15">
            <a:extLst>
              <a:ext uri="{FF2B5EF4-FFF2-40B4-BE49-F238E27FC236}">
                <a16:creationId xmlns:a16="http://schemas.microsoft.com/office/drawing/2014/main" id="{E91F8A03-73AE-2D3A-83E3-9FEBB80A82AC}"/>
              </a:ext>
            </a:extLst>
          </p:cNvPr>
          <p:cNvSpPr/>
          <p:nvPr/>
        </p:nvSpPr>
        <p:spPr>
          <a:xfrm flipV="1">
            <a:off x="492179" y="2786061"/>
            <a:ext cx="167640" cy="118531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抽選 16">
            <a:extLst>
              <a:ext uri="{FF2B5EF4-FFF2-40B4-BE49-F238E27FC236}">
                <a16:creationId xmlns:a16="http://schemas.microsoft.com/office/drawing/2014/main" id="{B2E82D39-EC6C-3D76-8038-D4066FB04A68}"/>
              </a:ext>
            </a:extLst>
          </p:cNvPr>
          <p:cNvSpPr/>
          <p:nvPr/>
        </p:nvSpPr>
        <p:spPr>
          <a:xfrm flipV="1">
            <a:off x="4916231" y="2777365"/>
            <a:ext cx="167640" cy="118531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Google Shape;649;p31">
            <a:extLst>
              <a:ext uri="{FF2B5EF4-FFF2-40B4-BE49-F238E27FC236}">
                <a16:creationId xmlns:a16="http://schemas.microsoft.com/office/drawing/2014/main" id="{AD6B6125-13AB-518E-A424-FBD5672F58B2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B0E0109-E26F-6609-23F8-5405329133D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432378"/>
            <a:ext cx="4892400" cy="2226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A030E10-709A-4927-8A29-F288833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B410F1A3-C60D-BCEF-FD39-B587CCC58F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0930" y="831822"/>
            <a:ext cx="7389600" cy="3906576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2CAFF97D-A171-298C-F090-6B194B101664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12" name="箭號: 五邊形 11">
              <a:extLst>
                <a:ext uri="{FF2B5EF4-FFF2-40B4-BE49-F238E27FC236}">
                  <a16:creationId xmlns:a16="http://schemas.microsoft.com/office/drawing/2014/main" id="{D9543807-6538-8E10-5CD0-954F0481AF2D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二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技能</a:t>
              </a:r>
              <a:r>
                <a:rPr lang="en-US" altLang="zh-TW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+</a:t>
              </a:r>
              <a:r>
                <a:rPr lang="zh-TW" altLang="en-US" b="1" dirty="0">
                  <a:ln w="0"/>
                  <a:solidFill>
                    <a:schemeClr val="bg1"/>
                  </a:solidFill>
                  <a:latin typeface="Adobe 繁黑體 Std B" panose="020B0700000000000000" pitchFamily="34" charset="-120"/>
                  <a:ea typeface="Adobe 繁黑體 Std B" panose="020B0700000000000000" pitchFamily="34" charset="-120"/>
                </a:rPr>
                <a:t>流程變化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106DCA6-0BDA-C8DF-A48D-25D6463A4A46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Google Shape;649;p31">
            <a:extLst>
              <a:ext uri="{FF2B5EF4-FFF2-40B4-BE49-F238E27FC236}">
                <a16:creationId xmlns:a16="http://schemas.microsoft.com/office/drawing/2014/main" id="{58BECFF9-CACE-CD61-5544-23A907C5C881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BBC201D2-6DFC-8771-86AB-32BA83CE3727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案例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AI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協作下 流程與技能樹 變化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(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探討性推論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)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818270CD-68B6-D9CA-16C8-FCA29175E1D8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91A5F5E9-0E03-6AF1-B104-EE5801F32DB2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1;p17">
            <a:extLst>
              <a:ext uri="{FF2B5EF4-FFF2-40B4-BE49-F238E27FC236}">
                <a16:creationId xmlns:a16="http://schemas.microsoft.com/office/drawing/2014/main" id="{330313F2-C1C5-59EB-CA11-59651587ADA6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62;p15">
            <a:extLst>
              <a:ext uri="{FF2B5EF4-FFF2-40B4-BE49-F238E27FC236}">
                <a16:creationId xmlns:a16="http://schemas.microsoft.com/office/drawing/2014/main" id="{753923F5-153A-9DD7-A1B9-7DC0F64676FE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6939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81761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E101E31-8936-4F8C-9A46-017869F07DE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40" y="591256"/>
            <a:ext cx="5887418" cy="295006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A1E8B7F-A368-6A70-11BB-EFA7793869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2024" y="2293620"/>
            <a:ext cx="4138596" cy="2510718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B73863F6-8F15-3C50-7E3F-660BF3A6F783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15" name="箭號: 五邊形 14">
              <a:extLst>
                <a:ext uri="{FF2B5EF4-FFF2-40B4-BE49-F238E27FC236}">
                  <a16:creationId xmlns:a16="http://schemas.microsoft.com/office/drawing/2014/main" id="{701F32F1-0AB8-0E7E-ADF7-74CAAAE9BEE9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三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團隊組織 影響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E8038DD-1F4F-D09E-4BE7-54D982C76926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32BE8A-63C0-21C0-C0A2-A14FB521E201}"/>
              </a:ext>
            </a:extLst>
          </p:cNvPr>
          <p:cNvSpPr txBox="1"/>
          <p:nvPr/>
        </p:nvSpPr>
        <p:spPr>
          <a:xfrm>
            <a:off x="288220" y="314257"/>
            <a:ext cx="4068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/>
              <a:t> 美術研發團隊 </a:t>
            </a:r>
            <a:r>
              <a:rPr lang="en-US" altLang="zh-TW" sz="1200" b="1" dirty="0"/>
              <a:t>(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2016</a:t>
            </a:r>
            <a:r>
              <a:rPr lang="zh-TW" altLang="en-US" sz="1200" b="1" dirty="0"/>
              <a:t> 更早 </a:t>
            </a:r>
            <a:r>
              <a:rPr lang="en-US" altLang="zh-TW" sz="1200" b="1" dirty="0"/>
              <a:t>~</a:t>
            </a:r>
            <a:r>
              <a:rPr lang="zh-TW" altLang="en-US" sz="1200" b="1" dirty="0"/>
              <a:t> 迄今 </a:t>
            </a:r>
            <a:r>
              <a:rPr lang="en-US" altLang="zh-TW" sz="1200" b="1" dirty="0"/>
              <a:t>)</a:t>
            </a:r>
            <a:endParaRPr lang="zh-TW" altLang="en-US" sz="1100" dirty="0"/>
          </a:p>
        </p:txBody>
      </p:sp>
      <p:sp>
        <p:nvSpPr>
          <p:cNvPr id="18" name="流程圖: 抽選 17">
            <a:extLst>
              <a:ext uri="{FF2B5EF4-FFF2-40B4-BE49-F238E27FC236}">
                <a16:creationId xmlns:a16="http://schemas.microsoft.com/office/drawing/2014/main" id="{6F56E119-3CFF-B73C-C974-485128FFBEB3}"/>
              </a:ext>
            </a:extLst>
          </p:cNvPr>
          <p:cNvSpPr/>
          <p:nvPr/>
        </p:nvSpPr>
        <p:spPr>
          <a:xfrm flipV="1">
            <a:off x="204400" y="390321"/>
            <a:ext cx="167640" cy="118531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51C265B-E6FE-D177-0B5D-D643835AF6D9}"/>
              </a:ext>
            </a:extLst>
          </p:cNvPr>
          <p:cNvSpPr txBox="1"/>
          <p:nvPr/>
        </p:nvSpPr>
        <p:spPr>
          <a:xfrm>
            <a:off x="6238960" y="2016621"/>
            <a:ext cx="25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/>
              <a:t>遊戲研發團隊 </a:t>
            </a:r>
            <a:r>
              <a:rPr lang="en-US" altLang="zh-TW" sz="1200" b="1" dirty="0"/>
              <a:t>(</a:t>
            </a:r>
            <a:r>
              <a:rPr lang="zh-TW" altLang="en-US" sz="1200" b="1" dirty="0"/>
              <a:t> </a:t>
            </a:r>
            <a:r>
              <a:rPr lang="en-US" altLang="zh-TW" sz="1200" b="1" dirty="0"/>
              <a:t>2020</a:t>
            </a:r>
            <a:r>
              <a:rPr lang="zh-TW" altLang="en-US" sz="1200" b="1" dirty="0"/>
              <a:t>更早 </a:t>
            </a:r>
            <a:r>
              <a:rPr lang="en-US" altLang="zh-TW" sz="1200" b="1" dirty="0"/>
              <a:t>~</a:t>
            </a:r>
            <a:r>
              <a:rPr lang="zh-TW" altLang="en-US" sz="1200" b="1" dirty="0"/>
              <a:t> 迄今 </a:t>
            </a:r>
            <a:r>
              <a:rPr lang="en-US" altLang="zh-TW" sz="1200" b="1" dirty="0"/>
              <a:t>)</a:t>
            </a:r>
            <a:endParaRPr lang="zh-TW" altLang="en-US" sz="1100" dirty="0"/>
          </a:p>
        </p:txBody>
      </p:sp>
      <p:sp>
        <p:nvSpPr>
          <p:cNvPr id="20" name="流程圖: 抽選 19">
            <a:extLst>
              <a:ext uri="{FF2B5EF4-FFF2-40B4-BE49-F238E27FC236}">
                <a16:creationId xmlns:a16="http://schemas.microsoft.com/office/drawing/2014/main" id="{54D0F680-E3AB-E5AD-A112-14C3FE0FB3ED}"/>
              </a:ext>
            </a:extLst>
          </p:cNvPr>
          <p:cNvSpPr/>
          <p:nvPr/>
        </p:nvSpPr>
        <p:spPr>
          <a:xfrm flipV="1">
            <a:off x="6071320" y="2095854"/>
            <a:ext cx="167640" cy="118531"/>
          </a:xfrm>
          <a:prstGeom prst="flowChartExtra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Google Shape;649;p31">
            <a:extLst>
              <a:ext uri="{FF2B5EF4-FFF2-40B4-BE49-F238E27FC236}">
                <a16:creationId xmlns:a16="http://schemas.microsoft.com/office/drawing/2014/main" id="{BAFA6A11-37A8-6C26-5541-36F65ED87496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3A07A5E-777E-2D69-7B79-69A70018AB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140" y="950400"/>
            <a:ext cx="7490460" cy="3778763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E0BB678A-3169-56AF-A276-35645BCC6F6F}"/>
              </a:ext>
            </a:extLst>
          </p:cNvPr>
          <p:cNvGrpSpPr/>
          <p:nvPr/>
        </p:nvGrpSpPr>
        <p:grpSpPr>
          <a:xfrm>
            <a:off x="0" y="7620"/>
            <a:ext cx="9144000" cy="5128260"/>
            <a:chOff x="0" y="7620"/>
            <a:chExt cx="9144000" cy="5128260"/>
          </a:xfrm>
        </p:grpSpPr>
        <p:sp>
          <p:nvSpPr>
            <p:cNvPr id="7" name="箭號: 五邊形 6">
              <a:extLst>
                <a:ext uri="{FF2B5EF4-FFF2-40B4-BE49-F238E27FC236}">
                  <a16:creationId xmlns:a16="http://schemas.microsoft.com/office/drawing/2014/main" id="{9AA2D737-D126-CC7F-3A59-1387DC3F48B9}"/>
                </a:ext>
              </a:extLst>
            </p:cNvPr>
            <p:cNvSpPr/>
            <p:nvPr/>
          </p:nvSpPr>
          <p:spPr>
            <a:xfrm flipH="1">
              <a:off x="6957060" y="7620"/>
              <a:ext cx="2186940" cy="426720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實例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三 </a:t>
              </a:r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</a:t>
              </a:r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團隊組織 影響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89D00D3-4177-670F-C87C-575CF7CDB95C}"/>
                </a:ext>
              </a:extLst>
            </p:cNvPr>
            <p:cNvSpPr/>
            <p:nvPr/>
          </p:nvSpPr>
          <p:spPr>
            <a:xfrm>
              <a:off x="0" y="7620"/>
              <a:ext cx="9144000" cy="512826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Google Shape;649;p31">
            <a:extLst>
              <a:ext uri="{FF2B5EF4-FFF2-40B4-BE49-F238E27FC236}">
                <a16:creationId xmlns:a16="http://schemas.microsoft.com/office/drawing/2014/main" id="{D2C4C913-83AB-3ECD-46BF-D996DB446543}"/>
              </a:ext>
            </a:extLst>
          </p:cNvPr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7A7F"/>
              </a:buClr>
              <a:buSzPts val="900"/>
              <a:buFont typeface="Calibri"/>
              <a:buNone/>
            </a:pPr>
            <a:r>
              <a:rPr lang="zh-TW" sz="900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AI 時代美術職能變化之探索性研究   ｜   </a:t>
            </a:r>
            <a:r>
              <a:rPr lang="zh-TW" sz="900" b="1" dirty="0">
                <a:solidFill>
                  <a:srgbClr val="787A7F"/>
                </a:solidFill>
                <a:latin typeface="Calibri"/>
                <a:ea typeface="Calibri"/>
                <a:cs typeface="Calibri"/>
                <a:sym typeface="Calibri"/>
              </a:rPr>
              <a:t>SLTM 2026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96;p25">
            <a:extLst>
              <a:ext uri="{FF2B5EF4-FFF2-40B4-BE49-F238E27FC236}">
                <a16:creationId xmlns:a16="http://schemas.microsoft.com/office/drawing/2014/main" id="{7DAEE2B4-2A43-8086-CDCF-C6A031EEA4C4}"/>
              </a:ext>
            </a:extLst>
          </p:cNvPr>
          <p:cNvSpPr/>
          <p:nvPr/>
        </p:nvSpPr>
        <p:spPr>
          <a:xfrm>
            <a:off x="536888" y="320153"/>
            <a:ext cx="79628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C3338"/>
              </a:buClr>
              <a:buSzPts val="2400"/>
            </a:pP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案例三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: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en-US" altLang="zh-TW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AI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協作下 團隊的變化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(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探討性推論</a:t>
            </a:r>
            <a:r>
              <a:rPr lang="en-US" altLang="zh-TW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)</a:t>
            </a:r>
            <a:r>
              <a:rPr lang="zh-TW" altLang="en-US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r>
              <a:rPr lang="zh-TW" altLang="en-US" sz="2400" b="1" dirty="0">
                <a:solidFill>
                  <a:srgbClr val="B085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 </a:t>
            </a:r>
            <a:endParaRPr sz="2400" b="1" dirty="0">
              <a:solidFill>
                <a:srgbClr val="B085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" name="Google Shape;89;p17">
            <a:extLst>
              <a:ext uri="{FF2B5EF4-FFF2-40B4-BE49-F238E27FC236}">
                <a16:creationId xmlns:a16="http://schemas.microsoft.com/office/drawing/2014/main" id="{D024ADBF-0038-E9D1-2923-56528E12D395}"/>
              </a:ext>
            </a:extLst>
          </p:cNvPr>
          <p:cNvSpPr/>
          <p:nvPr/>
        </p:nvSpPr>
        <p:spPr>
          <a:xfrm>
            <a:off x="577900" y="12070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altLang="zh-TW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0;p17">
            <a:extLst>
              <a:ext uri="{FF2B5EF4-FFF2-40B4-BE49-F238E27FC236}">
                <a16:creationId xmlns:a16="http://schemas.microsoft.com/office/drawing/2014/main" id="{C0AE72D3-943C-34ED-D93E-3FBD3529D271}"/>
              </a:ext>
            </a:extLst>
          </p:cNvPr>
          <p:cNvSpPr/>
          <p:nvPr/>
        </p:nvSpPr>
        <p:spPr>
          <a:xfrm>
            <a:off x="726029" y="120701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sz="1000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｜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1;p17">
            <a:extLst>
              <a:ext uri="{FF2B5EF4-FFF2-40B4-BE49-F238E27FC236}">
                <a16:creationId xmlns:a16="http://schemas.microsoft.com/office/drawing/2014/main" id="{EC306E14-DBFE-DA0C-6029-805DC7F0B62F}"/>
              </a:ext>
            </a:extLst>
          </p:cNvPr>
          <p:cNvSpPr/>
          <p:nvPr/>
        </p:nvSpPr>
        <p:spPr>
          <a:xfrm>
            <a:off x="857704" y="120701"/>
            <a:ext cx="90687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8D57"/>
              </a:buClr>
              <a:buSzPts val="1000"/>
              <a:buFont typeface="Calibri"/>
              <a:buNone/>
            </a:pPr>
            <a:r>
              <a:rPr lang="zh-TW" altLang="en-US" sz="1000" b="1" dirty="0">
                <a:solidFill>
                  <a:srgbClr val="B08D57"/>
                </a:solidFill>
                <a:latin typeface="Calibri"/>
                <a:ea typeface="Calibri"/>
                <a:cs typeface="Calibri"/>
                <a:sym typeface="Calibri"/>
              </a:rPr>
              <a:t>探 討 與 結 論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62;p15">
            <a:extLst>
              <a:ext uri="{FF2B5EF4-FFF2-40B4-BE49-F238E27FC236}">
                <a16:creationId xmlns:a16="http://schemas.microsoft.com/office/drawing/2014/main" id="{AA62FD71-DDD2-BC1C-1B73-E6A417275F04}"/>
              </a:ext>
            </a:extLst>
          </p:cNvPr>
          <p:cNvCxnSpPr>
            <a:cxnSpLocks/>
          </p:cNvCxnSpPr>
          <p:nvPr/>
        </p:nvCxnSpPr>
        <p:spPr>
          <a:xfrm>
            <a:off x="-62767" y="712486"/>
            <a:ext cx="6002767" cy="0"/>
          </a:xfrm>
          <a:prstGeom prst="straightConnector1">
            <a:avLst/>
          </a:prstGeom>
          <a:noFill/>
          <a:ln w="9525" cap="flat" cmpd="sng">
            <a:solidFill>
              <a:srgbClr val="B08D57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3210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1636</TotalTime>
  <Words>2497</Words>
  <Application>Microsoft Office PowerPoint</Application>
  <PresentationFormat>如螢幕大小 (16:9)</PresentationFormat>
  <Paragraphs>359</Paragraphs>
  <Slides>34</Slides>
  <Notes>14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2" baseType="lpstr">
      <vt:lpstr>Adobe 繁黑體 Std B</vt:lpstr>
      <vt:lpstr>Georgia</vt:lpstr>
      <vt:lpstr>微軟正黑體</vt:lpstr>
      <vt:lpstr>Arial</vt:lpstr>
      <vt:lpstr>Times New Roman</vt:lpstr>
      <vt:lpstr>Calibri</vt:lpstr>
      <vt:lpstr>微軟正黑體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benjamin Arcell</dc:creator>
  <cp:lastModifiedBy>Ben Lee</cp:lastModifiedBy>
  <cp:revision>208</cp:revision>
  <dcterms:modified xsi:type="dcterms:W3CDTF">2026-06-11T22:00:00Z</dcterms:modified>
</cp:coreProperties>
</file>